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9" r:id="rId2"/>
    <p:sldId id="260" r:id="rId3"/>
    <p:sldId id="270" r:id="rId4"/>
    <p:sldId id="271" r:id="rId5"/>
    <p:sldId id="276" r:id="rId6"/>
    <p:sldId id="272" r:id="rId7"/>
    <p:sldId id="262" r:id="rId8"/>
    <p:sldId id="273" r:id="rId9"/>
    <p:sldId id="274" r:id="rId10"/>
    <p:sldId id="27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8F4950-9214-4134-AC31-F533BE065637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78306C-0518-4DF5-864A-BB4A97FCD2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047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C00A2-4D99-0B7F-6403-CB4C1E83A6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8F08D8-F758-C0C2-99D6-FED4C515A9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7C9E81-8FA3-D78E-709D-78BE03C91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C9EAA0-B8C7-66A4-8FF9-EF991CD7D4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361577-ED42-C977-7109-6B62EC9E8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1769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A6CF65-8FE1-0822-04C5-E40AA75E84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4428D5-CCE4-0A02-1E02-3D9798F19F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256F81-2455-7EBA-2FD0-B72DE2B06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21F41-2A75-2E31-6A17-1C6F6E64F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0A3A5-87EB-4A77-F087-D06479847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71605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073ED-2CA6-05D2-EAA1-5DEAD548D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DA2B7A-DE2E-929C-81BE-3ED826B526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3A363-54DA-0A93-5BAD-CB7B6CCAB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3F3BAE-128C-2D7B-9B46-58C2085B4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5C922-CB53-A96D-C85A-FA86E47EB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93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823D81-7388-6B0D-8439-B0FCD68A3B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521BB7-76B2-549B-8A60-80A65225EE9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48BC5EE-4E36-E668-4BBC-6E4297B1B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53B7B8-7102-30A6-9D8B-89EE09C2B3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AC9C69-1930-6A9B-DCA9-8803F58272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9E3C44-6454-E489-E7D4-4CF31B5B9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672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6A0B09-1E3F-3525-2519-4897CE306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7C7D6F-E91B-1234-CCCE-98DDDD7C09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BAB584-7A13-724F-B7D9-56229682B1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D217ED-5BBF-7E17-1C6E-D3F0CE4754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4F16F7-AB4A-957E-042D-CD72754AD2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42695F4-E632-2574-752F-27FD4DB58E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6225AD4-39FE-56DD-C9D6-BAA9A5542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FFBE89-8ECE-17A8-65CF-AA7EB42882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51101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1C827-43DF-CA09-AD7D-643FC1C49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6DF09-A6A1-9095-4193-D27019622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3E8FB38-C50D-C7E1-9F56-B3F8C77F50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486DB7-2543-75C8-120E-5F8CD7BDE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39197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3DF842-3B18-EF02-0092-513A680B29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B20B524-42FE-7077-72B6-9913DFF759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DEC7EC9-422A-7CD5-7436-6682F3F5B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267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1A1714-15EE-1F28-8477-00916E52DE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4A4422-68C7-46EB-5B14-EBC4F7F8D0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3FAC2C3-5BAC-8193-BE7D-637DD73CDF0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3E69EB-3C81-B5BA-12E1-1CD2AFAE25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51F2F-024A-BA54-5C3D-F583B6118A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F3EBD-FAE0-CC8F-4D7E-637EE0D1E1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265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5F78D-5466-2C94-A3C5-B22E521C6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E65417C-9085-3D84-E3C5-D394DAB2A99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BF2EAB-CB3F-4B43-351D-77895C8838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44330-A9E4-F8ED-520F-6F0E2714B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2532D4-BD77-1297-8B07-80052A3346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DEC722-C022-723B-53DE-121003E89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9191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2FF9B-1F4C-3DBE-CAD8-0E9BFB06B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7A21F57-7232-4F94-831A-17AEF362C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203C13-EC18-6820-DE15-1B17412D4F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132858-FCEA-339E-0F75-59E27B8D9B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BF57AA-8480-CBAC-C7D9-9ED5A618E1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4284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0D96FA-2C1C-57B3-FE36-E9EE795309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D46EFB1-572F-2068-CE5F-B062FF246F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855C9F-B956-DF04-E116-D3A050FEE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89A135-5444-5885-88DE-FEFAABC8C3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19171C-81CE-18E8-DBA8-D5303C3C2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36569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29540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66DD357-1D90-606E-50F2-87C30514B8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CA14F57-C952-521E-4BEE-289A6BDE0F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5919F9-D631-9C8A-7F73-DF96018B05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F796689-AEAF-4221-99E3-94240EE79ED3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07C5AE-14D4-93C1-058E-06793A2094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608641-8459-9BA4-662E-88B740F2F7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AF722D-C444-4571-9B92-F6562EE84D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50265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4.pn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22-09-2026 / 1:20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/>
        </p:nvGraphicFramePr>
        <p:xfrm>
          <a:off x="7924798" y="4538579"/>
          <a:ext cx="4114799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799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2809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776982" y="4342216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/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Neelima Gogineni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441989" y="909557"/>
            <a:ext cx="113080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Student Project Tracking &amp; Management System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Review-2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293678-AF99-3D16-EFA4-B4E9601F9D11}"/>
              </a:ext>
            </a:extLst>
          </p:cNvPr>
          <p:cNvGraphicFramePr>
            <a:graphicFrameLocks noGrp="1"/>
          </p:cNvGraphicFramePr>
          <p:nvPr/>
        </p:nvGraphicFramePr>
        <p:xfrm>
          <a:off x="7924799" y="4901848"/>
          <a:ext cx="4114802" cy="14630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1282102583"/>
                    </a:ext>
                  </a:extLst>
                </a:gridCol>
                <a:gridCol w="2057401">
                  <a:extLst>
                    <a:ext uri="{9D8B030D-6E8A-4147-A177-3AD203B41FA5}">
                      <a16:colId xmlns:a16="http://schemas.microsoft.com/office/drawing/2014/main" val="123006612"/>
                    </a:ext>
                  </a:extLst>
                </a:gridCol>
              </a:tblGrid>
              <a:tr h="315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362692"/>
                  </a:ext>
                </a:extLst>
              </a:tr>
              <a:tr h="315720">
                <a:tc>
                  <a:txBody>
                    <a:bodyPr/>
                    <a:lstStyle/>
                    <a:p>
                      <a:r>
                        <a:rPr lang="en-US" dirty="0"/>
                        <a:t>Kommineni 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2420030011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70794"/>
                  </a:ext>
                </a:extLst>
              </a:tr>
              <a:tr h="315720">
                <a:tc>
                  <a:txBody>
                    <a:bodyPr/>
                    <a:lstStyle/>
                    <a:p>
                      <a:r>
                        <a:rPr lang="en-US" dirty="0"/>
                        <a:t>Pathi Sharmila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2420030042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090504"/>
                  </a:ext>
                </a:extLst>
              </a:tr>
              <a:tr h="315720">
                <a:tc>
                  <a:txBody>
                    <a:bodyPr/>
                    <a:lstStyle/>
                    <a:p>
                      <a:r>
                        <a:rPr lang="en-US" dirty="0"/>
                        <a:t>Ivaturi Vennela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2420030185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930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8AA2CC-2C9A-D968-2F38-FFC4A7D238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971D25F-D310-56FA-A58E-B7B79C7D85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CCFE0C0-0EDD-D4C7-0708-2550C2F28882}"/>
              </a:ext>
            </a:extLst>
          </p:cNvPr>
          <p:cNvSpPr txBox="1"/>
          <p:nvPr/>
        </p:nvSpPr>
        <p:spPr>
          <a:xfrm>
            <a:off x="4444180" y="311275"/>
            <a:ext cx="432619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Design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004CFE-E927-05B1-C193-CB3DE39703DF}"/>
              </a:ext>
            </a:extLst>
          </p:cNvPr>
          <p:cNvSpPr txBox="1"/>
          <p:nvPr/>
        </p:nvSpPr>
        <p:spPr>
          <a:xfrm>
            <a:off x="688258" y="1265165"/>
            <a:ext cx="10972800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&amp; Role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Manage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Admin, Mentor, and Student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accounts with role-based access and permissions.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 and manage projects, milestones, epics, stories, and project progress.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&amp; Sprint Management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Organize tasks into sprints, track deadlines, priorities, workload, and completion status.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&amp;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 students to submit deliverables and mentors to review, evaluate, and provide feedback.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AI-Powered Monitoring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Analyze project progress, task status, and deadlines to identify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pending, overdue, and at-risk tasks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Prioritize tasks and recommend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next best 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project status and deadlines.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Notifications &amp; Reporting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Generate deadline alerts, risk notifications, progress reports, and AI-based project insights.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SOA/Microservices Architecture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Implement independent services for modularity, scalability, maintainability, and efficient integration.</a:t>
            </a:r>
          </a:p>
        </p:txBody>
      </p:sp>
    </p:spTree>
    <p:extLst>
      <p:ext uri="{BB962C8B-B14F-4D97-AF65-F5344CB8AC3E}">
        <p14:creationId xmlns:p14="http://schemas.microsoft.com/office/powerpoint/2010/main" val="4118855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A886A5-CB59-B72F-2BCD-1A22F0173B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FF35433-55D0-7F9F-5B40-F1BFD1389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A9CB11F-E5BA-6A72-8722-5177E939725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826" y="1151194"/>
            <a:ext cx="9232490" cy="5539658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31A0569-1814-FE9F-F002-E16B0EDFBDB0}"/>
              </a:ext>
            </a:extLst>
          </p:cNvPr>
          <p:cNvSpPr txBox="1"/>
          <p:nvPr/>
        </p:nvSpPr>
        <p:spPr>
          <a:xfrm>
            <a:off x="4149213" y="302097"/>
            <a:ext cx="5751871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</p:txBody>
      </p:sp>
    </p:spTree>
    <p:extLst>
      <p:ext uri="{BB962C8B-B14F-4D97-AF65-F5344CB8AC3E}">
        <p14:creationId xmlns:p14="http://schemas.microsoft.com/office/powerpoint/2010/main" val="415217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906448-C6A4-B7AC-E0DB-D0BA18E4C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2478BC8-CAFD-33F0-A300-B0B617EEF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73193232-69CA-02BA-4433-5F6C7C8E7B92}"/>
              </a:ext>
            </a:extLst>
          </p:cNvPr>
          <p:cNvSpPr txBox="1"/>
          <p:nvPr/>
        </p:nvSpPr>
        <p:spPr>
          <a:xfrm>
            <a:off x="4343026" y="384044"/>
            <a:ext cx="51226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60ABF6F-EED5-25F1-F100-00EE3913C112}"/>
              </a:ext>
            </a:extLst>
          </p:cNvPr>
          <p:cNvSpPr txBox="1"/>
          <p:nvPr/>
        </p:nvSpPr>
        <p:spPr>
          <a:xfrm>
            <a:off x="1111045" y="1315089"/>
            <a:ext cx="951762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Identify Admin, Mentor, and Student requirements for project tracking, submissions, monitoring, and AI features.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Design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Design separate interfaces and permissions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RBAC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&amp; Sprint Setup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Create projects with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epics, stories, tasks, milestones, sprints, and deadlines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&amp; Progress Tracking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Monitor task assignments, priorities, workload, completion, and sprint progress.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&amp;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Enable student submissions and mentor review, evaluation, and status tracking.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Project Analysis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Use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Risk Radar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detect overdue and at-risk tasks based on project data.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Intelligent Decision Support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Provide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priority suggestions, risk insights, and next-action recommendations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 marL="342900" lvl="0" indent="-342900" algn="just"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Integration &amp; Evaluation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Integrate services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SOA/Microservices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evaluate workflows, AI features, and risk management.</a:t>
            </a:r>
          </a:p>
        </p:txBody>
      </p:sp>
    </p:spTree>
    <p:extLst>
      <p:ext uri="{BB962C8B-B14F-4D97-AF65-F5344CB8AC3E}">
        <p14:creationId xmlns:p14="http://schemas.microsoft.com/office/powerpoint/2010/main" val="28956323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19656" y="4114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 Adopted – 7-Phase Engineering Lifecycle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0" y="1325880"/>
            <a:ext cx="2194560" cy="1737360"/>
          </a:xfrm>
          <a:prstGeom prst="chevron">
            <a:avLst/>
          </a:prstGeom>
          <a:solidFill>
            <a:srgbClr val="D9E8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463040"/>
            <a:ext cx="384048" cy="38404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795125" y="1916789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2D63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Requirement Analysis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5"/>
          <p:cNvSpPr txBox="1"/>
          <p:nvPr/>
        </p:nvSpPr>
        <p:spPr>
          <a:xfrm>
            <a:off x="457200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Survey capstone pain points; align with ABET &amp; university viva rubrics.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6"/>
          <p:cNvSpPr/>
          <p:nvPr/>
        </p:nvSpPr>
        <p:spPr>
          <a:xfrm>
            <a:off x="1508760" y="1280160"/>
            <a:ext cx="2267712" cy="1737360"/>
          </a:xfrm>
          <a:prstGeom prst="chevron">
            <a:avLst/>
          </a:prstGeom>
          <a:solidFill>
            <a:srgbClr val="DAF0D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9192" y="1463040"/>
            <a:ext cx="384048" cy="384048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2313432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2D63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System &amp; SOA Design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 8"/>
          <p:cNvSpPr txBox="1"/>
          <p:nvPr/>
        </p:nvSpPr>
        <p:spPr>
          <a:xfrm>
            <a:off x="2039112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 Gateway, decoupled domain services, Circuit Breakers &amp; SSE sync.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Shape 9"/>
          <p:cNvSpPr/>
          <p:nvPr/>
        </p:nvSpPr>
        <p:spPr>
          <a:xfrm>
            <a:off x="3081125" y="1280160"/>
            <a:ext cx="2277259" cy="1737360"/>
          </a:xfrm>
          <a:prstGeom prst="chevron">
            <a:avLst/>
          </a:prstGeom>
          <a:solidFill>
            <a:srgbClr val="FFDCC2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61104" y="1463040"/>
            <a:ext cx="384048" cy="384048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3895344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2D63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Database &amp; Schema Design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 11"/>
          <p:cNvSpPr txBox="1"/>
          <p:nvPr/>
        </p:nvSpPr>
        <p:spPr>
          <a:xfrm>
            <a:off x="3621024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Model Projects, Sprints, Tasks, Directives, Rubrics &amp; Audit Logs.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2"/>
          <p:cNvSpPr/>
          <p:nvPr/>
        </p:nvSpPr>
        <p:spPr>
          <a:xfrm>
            <a:off x="4645152" y="1280160"/>
            <a:ext cx="2295144" cy="1737360"/>
          </a:xfrm>
          <a:prstGeom prst="chevron">
            <a:avLst/>
          </a:prstGeom>
          <a:solidFill>
            <a:srgbClr val="E6DAF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9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43016" y="1463040"/>
            <a:ext cx="384048" cy="384048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5477256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2D63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Core Full-Stack Development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Text 14"/>
          <p:cNvSpPr txBox="1"/>
          <p:nvPr/>
        </p:nvSpPr>
        <p:spPr>
          <a:xfrm>
            <a:off x="5202936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19 + TypeScript frontend; Node.js/Express REST microservices.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Shape 15"/>
          <p:cNvSpPr/>
          <p:nvPr/>
        </p:nvSpPr>
        <p:spPr>
          <a:xfrm>
            <a:off x="6227064" y="1280160"/>
            <a:ext cx="2295144" cy="1737360"/>
          </a:xfrm>
          <a:prstGeom prst="chevron">
            <a:avLst/>
          </a:prstGeom>
          <a:solidFill>
            <a:srgbClr val="FBD3D3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3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4928" y="1463040"/>
            <a:ext cx="384048" cy="384048"/>
          </a:xfrm>
          <a:prstGeom prst="rect">
            <a:avLst/>
          </a:prstGeom>
        </p:spPr>
      </p:pic>
      <p:sp>
        <p:nvSpPr>
          <p:cNvPr id="24" name="Text 16"/>
          <p:cNvSpPr txBox="1"/>
          <p:nvPr/>
        </p:nvSpPr>
        <p:spPr>
          <a:xfrm>
            <a:off x="7059168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2D63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AI Copilot &amp; Risk Engine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 17"/>
          <p:cNvSpPr txBox="1"/>
          <p:nvPr/>
        </p:nvSpPr>
        <p:spPr>
          <a:xfrm>
            <a:off x="6784848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Gemini API + fallback heuristics for WBS and risk intelligence.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Shape 18"/>
          <p:cNvSpPr/>
          <p:nvPr/>
        </p:nvSpPr>
        <p:spPr>
          <a:xfrm>
            <a:off x="7772400" y="1280160"/>
            <a:ext cx="2295144" cy="1737360"/>
          </a:xfrm>
          <a:prstGeom prst="chevron">
            <a:avLst/>
          </a:prstGeom>
          <a:solidFill>
            <a:srgbClr val="D3E6FA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006840" y="1463040"/>
            <a:ext cx="384048" cy="384048"/>
          </a:xfrm>
          <a:prstGeom prst="rect">
            <a:avLst/>
          </a:prstGeom>
        </p:spPr>
      </p:pic>
      <p:sp>
        <p:nvSpPr>
          <p:cNvPr id="28" name="Text 19"/>
          <p:cNvSpPr txBox="1"/>
          <p:nvPr/>
        </p:nvSpPr>
        <p:spPr>
          <a:xfrm>
            <a:off x="8592165" y="1893673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2D63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Testing &amp; Quality Assurance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 20"/>
          <p:cNvSpPr txBox="1"/>
          <p:nvPr/>
        </p:nvSpPr>
        <p:spPr>
          <a:xfrm>
            <a:off x="8366760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 tests, API contracts, RBAC validation &amp; circuit breaker tests.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9390888" y="1280160"/>
            <a:ext cx="2295144" cy="1737360"/>
          </a:xfrm>
          <a:prstGeom prst="chevron">
            <a:avLst/>
          </a:prstGeom>
          <a:solidFill>
            <a:srgbClr val="D6EF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8752" y="1463040"/>
            <a:ext cx="384048" cy="384048"/>
          </a:xfrm>
          <a:prstGeom prst="rect">
            <a:avLst/>
          </a:prstGeom>
        </p:spPr>
      </p:pic>
      <p:sp>
        <p:nvSpPr>
          <p:cNvPr id="32" name="Text 22"/>
          <p:cNvSpPr txBox="1"/>
          <p:nvPr/>
        </p:nvSpPr>
        <p:spPr>
          <a:xfrm>
            <a:off x="10222992" y="1920240"/>
            <a:ext cx="1188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 dirty="0">
                <a:solidFill>
                  <a:srgbClr val="2D63B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Deployment &amp; Documentation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23"/>
          <p:cNvSpPr txBox="1"/>
          <p:nvPr/>
        </p:nvSpPr>
        <p:spPr>
          <a:xfrm>
            <a:off x="9948672" y="3291840"/>
            <a:ext cx="1508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sz="12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Containerized setup, offline fallback caches &amp; viva defense reports.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7" name="Picture 36" descr="Best Private University in Telangana &amp; Andhra Pradesh | KLH Hyderabad">
            <a:extLst>
              <a:ext uri="{FF2B5EF4-FFF2-40B4-BE49-F238E27FC236}">
                <a16:creationId xmlns:a16="http://schemas.microsoft.com/office/drawing/2014/main" id="{E2F3227A-632F-3CDE-CB64-386773108AA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459267" y="-260757"/>
            <a:ext cx="1349275" cy="10028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B30000-61CD-2384-0BDF-7797DD9D6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1210052-095A-8785-BC9F-CF1D8DCAD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ED7A271-5439-EE71-D7CB-D25623F7791C}"/>
              </a:ext>
            </a:extLst>
          </p:cNvPr>
          <p:cNvSpPr txBox="1"/>
          <p:nvPr/>
        </p:nvSpPr>
        <p:spPr>
          <a:xfrm>
            <a:off x="4060722" y="219284"/>
            <a:ext cx="49161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Soundness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18A5AE0-23B2-DE82-96E9-7C33A0DA6B31}"/>
              </a:ext>
            </a:extLst>
          </p:cNvPr>
          <p:cNvSpPr txBox="1"/>
          <p:nvPr/>
        </p:nvSpPr>
        <p:spPr>
          <a:xfrm>
            <a:off x="1174955" y="985568"/>
            <a:ext cx="9842089" cy="5115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Frontend: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React 19 + TypeScript + Vite + Tailwind CSS provide a responsive, component-based interface for Admin, Mentor, and Student dashboards, with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Lucide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Icons and DnD Kanban for task management. </a:t>
            </a:r>
          </a:p>
          <a:p>
            <a:pPr lvl="0"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Backend: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Node.js + Express.js + TypeScript implement the backend services using REST Microservices. SSE Event Bus supports real-time updates for task progress, submissions, notifications, and AI insights. </a:t>
            </a:r>
          </a:p>
          <a:p>
            <a:pPr lvl="0"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TiDB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/ MySQL relational cloud database provides structured and scalable storage for users, projects, tasks, sprints, submissions, milestones, and AI-generated insights, with high-availability in-memory processing for efficient access. </a:t>
            </a:r>
          </a:p>
          <a:p>
            <a:pPr lvl="0" algn="just"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Overall Architecture: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technologies support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modular, scalable, real-time SOA/Microservices system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suitable for the AI-powered student project tracking platform.</a:t>
            </a:r>
          </a:p>
        </p:txBody>
      </p:sp>
    </p:spTree>
    <p:extLst>
      <p:ext uri="{BB962C8B-B14F-4D97-AF65-F5344CB8AC3E}">
        <p14:creationId xmlns:p14="http://schemas.microsoft.com/office/powerpoint/2010/main" val="38405473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2"/>
          <p:cNvSpPr txBox="1"/>
          <p:nvPr/>
        </p:nvSpPr>
        <p:spPr>
          <a:xfrm>
            <a:off x="1828800" y="182880"/>
            <a:ext cx="8503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Technical Soundness</a:t>
            </a: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hape 3"/>
          <p:cNvSpPr/>
          <p:nvPr/>
        </p:nvSpPr>
        <p:spPr>
          <a:xfrm>
            <a:off x="457200" y="1097280"/>
            <a:ext cx="5760720" cy="457200"/>
          </a:xfrm>
          <a:prstGeom prst="rect">
            <a:avLst/>
          </a:prstGeom>
          <a:solidFill>
            <a:srgbClr val="2B5FB5"/>
          </a:solidFill>
          <a:ln w="12700">
            <a:solidFill>
              <a:srgbClr val="2B5FB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 4"/>
          <p:cNvSpPr txBox="1"/>
          <p:nvPr/>
        </p:nvSpPr>
        <p:spPr>
          <a:xfrm>
            <a:off x="594360" y="1097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Production Technology Stack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Shape 5"/>
          <p:cNvSpPr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solidFill>
            <a:srgbClr val="2B5FB5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 6"/>
          <p:cNvSpPr txBox="1"/>
          <p:nvPr/>
        </p:nvSpPr>
        <p:spPr>
          <a:xfrm>
            <a:off x="457200" y="169164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Shape 7"/>
          <p:cNvSpPr/>
          <p:nvPr/>
        </p:nvSpPr>
        <p:spPr>
          <a:xfrm>
            <a:off x="1828800" y="169164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1680" y="18745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651760" y="16916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19, TypeScript, Vite, Tailwind CSS, Lucide Icons, DnD Kanban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Shape 9"/>
          <p:cNvSpPr/>
          <p:nvPr/>
        </p:nvSpPr>
        <p:spPr>
          <a:xfrm>
            <a:off x="457200" y="2560320"/>
            <a:ext cx="1371600" cy="777240"/>
          </a:xfrm>
          <a:prstGeom prst="rect">
            <a:avLst/>
          </a:prstGeom>
          <a:solidFill>
            <a:srgbClr val="3E9A47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 10"/>
          <p:cNvSpPr txBox="1"/>
          <p:nvPr/>
        </p:nvSpPr>
        <p:spPr>
          <a:xfrm>
            <a:off x="457200" y="256032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Shape 11"/>
          <p:cNvSpPr/>
          <p:nvPr/>
        </p:nvSpPr>
        <p:spPr>
          <a:xfrm>
            <a:off x="1828800" y="256032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11680" y="274320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2651760" y="256032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Node.js, Express.js, TypeScript, REST Microservices, SSE Event Bus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Shape 13"/>
          <p:cNvSpPr/>
          <p:nvPr/>
        </p:nvSpPr>
        <p:spPr>
          <a:xfrm>
            <a:off x="457200" y="3429000"/>
            <a:ext cx="1371600" cy="777240"/>
          </a:xfrm>
          <a:prstGeom prst="rect">
            <a:avLst/>
          </a:prstGeom>
          <a:solidFill>
            <a:srgbClr val="F28C28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 14"/>
          <p:cNvSpPr txBox="1"/>
          <p:nvPr/>
        </p:nvSpPr>
        <p:spPr>
          <a:xfrm>
            <a:off x="457200" y="342900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Security &amp; Resilience</a:t>
            </a:r>
            <a:endParaRPr lang="en-US" sz="1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Shape 15"/>
          <p:cNvSpPr/>
          <p:nvPr/>
        </p:nvSpPr>
        <p:spPr>
          <a:xfrm>
            <a:off x="1828800" y="342900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1680" y="3611880"/>
            <a:ext cx="411480" cy="411480"/>
          </a:xfrm>
          <a:prstGeom prst="rect">
            <a:avLst/>
          </a:prstGeom>
        </p:spPr>
      </p:pic>
      <p:sp>
        <p:nvSpPr>
          <p:cNvPr id="22" name="Text 16"/>
          <p:cNvSpPr txBox="1"/>
          <p:nvPr/>
        </p:nvSpPr>
        <p:spPr>
          <a:xfrm>
            <a:off x="2651760" y="342900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Circuit Breakers, Rate Limiting, Helmet, JWT &amp; RBAC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Shape 17"/>
          <p:cNvSpPr/>
          <p:nvPr/>
        </p:nvSpPr>
        <p:spPr>
          <a:xfrm>
            <a:off x="457200" y="4297680"/>
            <a:ext cx="1371600" cy="777240"/>
          </a:xfrm>
          <a:prstGeom prst="rect">
            <a:avLst/>
          </a:prstGeom>
          <a:solidFill>
            <a:srgbClr val="8E5BD6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Text 18"/>
          <p:cNvSpPr txBox="1"/>
          <p:nvPr/>
        </p:nvSpPr>
        <p:spPr>
          <a:xfrm>
            <a:off x="457200" y="4297680"/>
            <a:ext cx="1371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2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Shape 19"/>
          <p:cNvSpPr/>
          <p:nvPr/>
        </p:nvSpPr>
        <p:spPr>
          <a:xfrm>
            <a:off x="1828800" y="4297680"/>
            <a:ext cx="4389120" cy="777240"/>
          </a:xfrm>
          <a:prstGeom prst="rect">
            <a:avLst/>
          </a:prstGeom>
          <a:solidFill>
            <a:srgbClr val="EEF3FB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11680" y="4480560"/>
            <a:ext cx="411480" cy="411480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2651760" y="42976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200" dirty="0" err="1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TiDB</a:t>
            </a:r>
            <a:r>
              <a:rPr sz="12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MySQL relational cloud database + high-availability in-memory engine</a:t>
            </a:r>
            <a:endParaRPr 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Shape 25"/>
          <p:cNvSpPr/>
          <p:nvPr/>
        </p:nvSpPr>
        <p:spPr>
          <a:xfrm>
            <a:off x="6583680" y="1097280"/>
            <a:ext cx="5166360" cy="457200"/>
          </a:xfrm>
          <a:prstGeom prst="rect">
            <a:avLst/>
          </a:prstGeom>
          <a:solidFill>
            <a:srgbClr val="2B5FB5"/>
          </a:solidFill>
          <a:ln w="12700">
            <a:solidFill>
              <a:srgbClr val="2B5FB5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4" name="Text 26"/>
          <p:cNvSpPr txBox="1"/>
          <p:nvPr/>
        </p:nvSpPr>
        <p:spPr>
          <a:xfrm>
            <a:off x="672084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sz="14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Multi-Tier Architecture &amp; Data Flow</a:t>
            </a:r>
            <a:endParaRPr lang="en-US" sz="17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Shape 27"/>
          <p:cNvSpPr/>
          <p:nvPr/>
        </p:nvSpPr>
        <p:spPr>
          <a:xfrm>
            <a:off x="6583680" y="2103120"/>
            <a:ext cx="137160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68312" y="2212848"/>
            <a:ext cx="402336" cy="402336"/>
          </a:xfrm>
          <a:prstGeom prst="rect">
            <a:avLst/>
          </a:prstGeom>
        </p:spPr>
      </p:pic>
      <p:sp>
        <p:nvSpPr>
          <p:cNvPr id="37" name="Text 28"/>
          <p:cNvSpPr txBox="1"/>
          <p:nvPr/>
        </p:nvSpPr>
        <p:spPr>
          <a:xfrm>
            <a:off x="6583680" y="26517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Client Tier</a:t>
            </a:r>
            <a:b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Role-aware UI</a:t>
            </a:r>
            <a:b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• Mentor • Admin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8" name="Shape 29"/>
          <p:cNvSpPr/>
          <p:nvPr/>
        </p:nvSpPr>
        <p:spPr>
          <a:xfrm>
            <a:off x="8321040" y="2103120"/>
            <a:ext cx="146304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9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851392" y="2212848"/>
            <a:ext cx="402336" cy="402336"/>
          </a:xfrm>
          <a:prstGeom prst="rect">
            <a:avLst/>
          </a:prstGeom>
        </p:spPr>
      </p:pic>
      <p:sp>
        <p:nvSpPr>
          <p:cNvPr id="40" name="Text 30"/>
          <p:cNvSpPr txBox="1"/>
          <p:nvPr/>
        </p:nvSpPr>
        <p:spPr>
          <a:xfrm>
            <a:off x="8321040" y="26517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Gateway Tier</a:t>
            </a:r>
            <a:b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JWT validation • RBAC • routing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Shape 31"/>
          <p:cNvSpPr/>
          <p:nvPr/>
        </p:nvSpPr>
        <p:spPr>
          <a:xfrm>
            <a:off x="10149840" y="2103120"/>
            <a:ext cx="1600200" cy="1234440"/>
          </a:xfrm>
          <a:prstGeom prst="roundRect">
            <a:avLst>
              <a:gd name="adj" fmla="val 7407"/>
            </a:avLst>
          </a:prstGeom>
          <a:solidFill>
            <a:srgbClr val="E3F3E3"/>
          </a:solidFill>
          <a:ln w="12700">
            <a:solidFill>
              <a:srgbClr val="94CC94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2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748772" y="2212848"/>
            <a:ext cx="402336" cy="402336"/>
          </a:xfrm>
          <a:prstGeom prst="rect">
            <a:avLst/>
          </a:prstGeom>
        </p:spPr>
      </p:pic>
      <p:sp>
        <p:nvSpPr>
          <p:cNvPr id="43" name="Text 32"/>
          <p:cNvSpPr txBox="1"/>
          <p:nvPr/>
        </p:nvSpPr>
        <p:spPr>
          <a:xfrm>
            <a:off x="10149840" y="2651760"/>
            <a:ext cx="1600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 Service Tier</a:t>
            </a:r>
            <a:b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Sprint planning • rollover • rubric scoring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4" name="Shape 33"/>
          <p:cNvSpPr/>
          <p:nvPr/>
        </p:nvSpPr>
        <p:spPr>
          <a:xfrm>
            <a:off x="7955280" y="2715768"/>
            <a:ext cx="36576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5" name="Shape 34"/>
          <p:cNvSpPr/>
          <p:nvPr/>
        </p:nvSpPr>
        <p:spPr>
          <a:xfrm>
            <a:off x="9784080" y="2715768"/>
            <a:ext cx="36576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6" name="Shape 35"/>
          <p:cNvSpPr/>
          <p:nvPr/>
        </p:nvSpPr>
        <p:spPr>
          <a:xfrm>
            <a:off x="10945368" y="3337560"/>
            <a:ext cx="0" cy="128016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7" name="Shape 36"/>
          <p:cNvSpPr/>
          <p:nvPr/>
        </p:nvSpPr>
        <p:spPr>
          <a:xfrm>
            <a:off x="9692640" y="4617720"/>
            <a:ext cx="205740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8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20172" y="4727448"/>
            <a:ext cx="402336" cy="402336"/>
          </a:xfrm>
          <a:prstGeom prst="rect">
            <a:avLst/>
          </a:prstGeom>
        </p:spPr>
      </p:pic>
      <p:sp>
        <p:nvSpPr>
          <p:cNvPr id="49" name="Text 37"/>
          <p:cNvSpPr txBox="1"/>
          <p:nvPr/>
        </p:nvSpPr>
        <p:spPr>
          <a:xfrm>
            <a:off x="9692640" y="5166360"/>
            <a:ext cx="2057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4. Fault Tolerance</a:t>
            </a:r>
            <a:b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Circuit breakers + in-memory fallback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Shape 38"/>
          <p:cNvSpPr/>
          <p:nvPr/>
        </p:nvSpPr>
        <p:spPr>
          <a:xfrm>
            <a:off x="6858000" y="4617720"/>
            <a:ext cx="2103120" cy="1234440"/>
          </a:xfrm>
          <a:prstGeom prst="roundRect">
            <a:avLst>
              <a:gd name="adj" fmla="val 7407"/>
            </a:avLst>
          </a:prstGeom>
          <a:solidFill>
            <a:srgbClr val="E4EEFB"/>
          </a:solidFill>
          <a:ln w="12700">
            <a:solidFill>
              <a:srgbClr val="A9C4EA"/>
            </a:solidFill>
            <a:prstDash val="solid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1" name="Image 10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708392" y="4727448"/>
            <a:ext cx="402336" cy="402336"/>
          </a:xfrm>
          <a:prstGeom prst="rect">
            <a:avLst/>
          </a:prstGeom>
        </p:spPr>
      </p:pic>
      <p:sp>
        <p:nvSpPr>
          <p:cNvPr id="52" name="Text 39"/>
          <p:cNvSpPr txBox="1"/>
          <p:nvPr/>
        </p:nvSpPr>
        <p:spPr>
          <a:xfrm>
            <a:off x="6858000" y="51663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Event &amp; Persistence</a:t>
            </a:r>
            <a:br>
              <a:rPr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Relational DB + SSE live updates</a:t>
            </a:r>
            <a:endParaRPr lang="en-US" sz="1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Shape 40"/>
          <p:cNvSpPr/>
          <p:nvPr/>
        </p:nvSpPr>
        <p:spPr>
          <a:xfrm>
            <a:off x="8961120" y="5230368"/>
            <a:ext cx="731520" cy="0"/>
          </a:xfrm>
          <a:prstGeom prst="line">
            <a:avLst/>
          </a:prstGeom>
          <a:noFill/>
          <a:ln w="31750">
            <a:solidFill>
              <a:srgbClr val="2B5FB5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Rounded Rectangle 55"/>
          <p:cNvSpPr/>
          <p:nvPr/>
        </p:nvSpPr>
        <p:spPr>
          <a:xfrm>
            <a:off x="462560" y="5420720"/>
            <a:ext cx="5750000" cy="680000"/>
          </a:xfrm>
          <a:prstGeom prst="roundRect">
            <a:avLst/>
          </a:prstGeom>
          <a:solidFill>
            <a:srgbClr val="EEE8FA"/>
          </a:solidFill>
          <a:ln>
            <a:solidFill>
              <a:srgbClr val="875FB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561680" y="5585982"/>
            <a:ext cx="145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dirty="0">
                <a:solidFill>
                  <a:srgbClr val="6941AA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ENGINE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26480" y="5577160"/>
            <a:ext cx="400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232323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Google Gemini API + Hybrid Heuristic Rule Engine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445A608-F666-2963-2E70-3BA0D81B300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9D669A-7EC6-6033-4A50-343F945A84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E58FA21-3DDF-7811-F12D-D8AF3CBC76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60AD152E-7FA6-3E46-D61D-58E2ED4E78D1}"/>
              </a:ext>
            </a:extLst>
          </p:cNvPr>
          <p:cNvSpPr txBox="1"/>
          <p:nvPr/>
        </p:nvSpPr>
        <p:spPr>
          <a:xfrm>
            <a:off x="4306529" y="127819"/>
            <a:ext cx="4660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1B9DA-D7EE-082A-48D9-940C8BAD2D39}"/>
              </a:ext>
            </a:extLst>
          </p:cNvPr>
          <p:cNvSpPr txBox="1"/>
          <p:nvPr/>
        </p:nvSpPr>
        <p:spPr>
          <a:xfrm>
            <a:off x="771832" y="1023512"/>
            <a:ext cx="10648335" cy="5576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1 – User &amp; Role Management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Admin, Mentor, and Student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accounts, authentication, role-based permissions, and user/project assignments.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2 – Project Management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project creation and management, including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details, team members, mentors, milestones, and project status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3 – Sprint &amp; Task Management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Manages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epics, stories, sprints, and tasks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including task assignment, priority, deadlines, status, and workload.</a:t>
            </a:r>
          </a:p>
          <a:p>
            <a:pPr>
              <a:lnSpc>
                <a:spcPct val="150000"/>
              </a:lnSpc>
              <a:buNone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4 – Submission &amp; Evaluation</a:t>
            </a: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students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submit project deliverables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mentors to review submissions, provide feedback, and record evaluation results.</a:t>
            </a:r>
          </a:p>
        </p:txBody>
      </p:sp>
    </p:spTree>
    <p:extLst>
      <p:ext uri="{BB962C8B-B14F-4D97-AF65-F5344CB8AC3E}">
        <p14:creationId xmlns:p14="http://schemas.microsoft.com/office/powerpoint/2010/main" val="297297514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45B96-B038-444B-E6B6-93E34F728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9D4E9D1-84F4-BEF2-EEE9-6D831AB6FB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12B93B7-C18A-97CB-7E0C-208E1B22A343}"/>
              </a:ext>
            </a:extLst>
          </p:cNvPr>
          <p:cNvSpPr txBox="1"/>
          <p:nvPr/>
        </p:nvSpPr>
        <p:spPr>
          <a:xfrm>
            <a:off x="648929" y="119728"/>
            <a:ext cx="10894142" cy="66185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5 – Progress Monitoring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completion, sprint progress, milestones, pending work, and overall project progress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current project status.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6 – AI Risk Analysis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 Risk Radar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analyzes project progress, task status, deadlines, and workload to identify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overdue, delayed, and at-risk tasks/projects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7 – AI Task Recommendation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AI Agent analyzes pending work and deadlines to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 tasks and recommend the next best action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improving project progress.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8 – Notification &amp; Reporting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deadline alerts, risk notifications, project progress reports, and AI-generated project insights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relevant users.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 9 – SOA/Microservices Integration</a:t>
            </a:r>
          </a:p>
          <a:p>
            <a:pPr algn="just">
              <a:lnSpc>
                <a:spcPct val="150000"/>
              </a:lnSpc>
              <a:buNone/>
            </a:pP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Implements the system as </a:t>
            </a:r>
            <a:r>
              <a:rPr lang="en-US" sz="19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services connected through APIs</a:t>
            </a:r>
            <a:r>
              <a:rPr lang="en-US" sz="1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modular development, service-level communication, scalability, and easier maintenance.</a:t>
            </a:r>
          </a:p>
        </p:txBody>
      </p:sp>
    </p:spTree>
    <p:extLst>
      <p:ext uri="{BB962C8B-B14F-4D97-AF65-F5344CB8AC3E}">
        <p14:creationId xmlns:p14="http://schemas.microsoft.com/office/powerpoint/2010/main" val="128692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C547001-0B03-446C-BFB4-2810621C5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A8FB374-1AC3-CA70-39BD-322AE33855C6}"/>
              </a:ext>
            </a:extLst>
          </p:cNvPr>
          <p:cNvSpPr txBox="1"/>
          <p:nvPr/>
        </p:nvSpPr>
        <p:spPr>
          <a:xfrm>
            <a:off x="3746090" y="2674374"/>
            <a:ext cx="5171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806088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</TotalTime>
  <Words>1024</Words>
  <Application>Microsoft Office PowerPoint</Application>
  <PresentationFormat>Widescreen</PresentationFormat>
  <Paragraphs>101</Paragraphs>
  <Slides>10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Vishnu Priya Kodali</dc:creator>
  <cp:lastModifiedBy>Sharmila Pathi</cp:lastModifiedBy>
  <cp:revision>10</cp:revision>
  <dcterms:created xsi:type="dcterms:W3CDTF">2026-08-26T06:16:23Z</dcterms:created>
  <dcterms:modified xsi:type="dcterms:W3CDTF">2026-09-22T07:01:55Z</dcterms:modified>
</cp:coreProperties>
</file>