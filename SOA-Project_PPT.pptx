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2"/>
  </p:notesMasterIdLst>
  <p:sldIdLst>
    <p:sldId id="262" r:id="rId3"/>
    <p:sldId id="707" r:id="rId4"/>
    <p:sldId id="257" r:id="rId5"/>
    <p:sldId id="903" r:id="rId6"/>
    <p:sldId id="902" r:id="rId7"/>
    <p:sldId id="258" r:id="rId8"/>
    <p:sldId id="259" r:id="rId9"/>
    <p:sldId id="260" r:id="rId10"/>
    <p:sldId id="904"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presProps" Target="pres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theme" Target="theme/theme1.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4B03022-1F30-4885-B78F-22C04F8A973E}" type="doc">
      <dgm:prSet loTypeId="urn:microsoft.com/office/officeart/2005/8/layout/venn3" loCatId="relationship" qsTypeId="urn:microsoft.com/office/officeart/2005/8/quickstyle/3d7" qsCatId="3D" csTypeId="urn:microsoft.com/office/officeart/2005/8/colors/colorful1" csCatId="colorful" phldr="1"/>
      <dgm:spPr/>
      <dgm:t>
        <a:bodyPr/>
        <a:lstStyle/>
        <a:p>
          <a:endParaRPr lang="en-IN"/>
        </a:p>
      </dgm:t>
    </dgm:pt>
    <dgm:pt modelId="{4094C340-BA43-4FE7-BEDC-37D235AAAD16}" type="pres">
      <dgm:prSet presAssocID="{84B03022-1F30-4885-B78F-22C04F8A973E}" presName="Name0" presStyleCnt="0">
        <dgm:presLayoutVars>
          <dgm:dir/>
          <dgm:resizeHandles val="exact"/>
        </dgm:presLayoutVars>
      </dgm:prSet>
      <dgm:spPr/>
    </dgm:pt>
  </dgm:ptLst>
  <dgm:cxnLst>
    <dgm:cxn modelId="{536B444D-E965-4C7A-901B-8D59695FE972}" type="presOf" srcId="{84B03022-1F30-4885-B78F-22C04F8A973E}" destId="{4094C340-BA43-4FE7-BEDC-37D235AAAD16}" srcOrd="0" destOrd="0" presId="urn:microsoft.com/office/officeart/2005/8/layout/venn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VertCh" val="mid"/>
          <dgm:param type="txAnchorHorzCh" val="ctr"/>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7">
  <dgm:title val=""/>
  <dgm:desc val=""/>
  <dgm:catLst>
    <dgm:cat type="3D" pri="11700"/>
  </dgm:catLst>
  <dgm:scene3d>
    <a:camera prst="perspectiveLeft" zoom="91000"/>
    <a:lightRig rig="threePt" dir="t">
      <a:rot lat="0" lon="0" rev="20640000"/>
    </a:lightRig>
  </dgm:scene3d>
  <dgm:styleLbl name="node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lnNod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vennNode1">
    <dgm:scene3d>
      <a:camera prst="orthographicFront"/>
      <a:lightRig rig="threePt" dir="t"/>
    </dgm:scene3d>
    <dgm:sp3d extrusionH="50600" prstMaterial="clear">
      <a:bevelT w="101600" h="80600" prst="relaxedInset"/>
      <a:bevelB w="80600" h="80600" prst="relaxedInset"/>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50600" prstMaterial="metal">
      <a:bevelT w="101600" h="80600" prst="relaxedInset"/>
      <a:bevelB w="80600" h="80600" prst="relaxedInset"/>
    </dgm:sp3d>
    <dgm:txPr/>
    <dgm:style>
      <a:lnRef idx="1">
        <a:scrgbClr r="0" g="0" b="0"/>
      </a:lnRef>
      <a:fillRef idx="1">
        <a:scrgbClr r="0" g="0" b="0"/>
      </a:fillRef>
      <a:effectRef idx="1">
        <a:scrgbClr r="0" g="0" b="0"/>
      </a:effectRef>
      <a:fontRef idx="minor">
        <a:schemeClr val="dk1"/>
      </a:fontRef>
    </dgm:style>
  </dgm:styleLbl>
  <dgm:styleLbl name="node1">
    <dgm:scene3d>
      <a:camera prst="orthographicFront"/>
      <a:lightRig rig="threePt" dir="t"/>
    </dgm:scene3d>
    <dgm:sp3d extrusionH="50600" prstMaterial="metal">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fgImgPlace1">
    <dgm:scene3d>
      <a:camera prst="orthographicFront"/>
      <a:lightRig rig="threePt" dir="t"/>
    </dgm:scene3d>
    <dgm:sp3d z="572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alignImgPlac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dgm:style>
  </dgm:styleLbl>
  <dgm:styleLbl name="bgImgPlace1">
    <dgm:scene3d>
      <a:camera prst="orthographicFront"/>
      <a:lightRig rig="threePt" dir="t"/>
    </dgm:scene3d>
    <dgm:sp3d z="-2118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sibTrans2D1">
    <dgm:scene3d>
      <a:camera prst="orthographicFront"/>
      <a:lightRig rig="threePt" dir="t"/>
    </dgm:scene3d>
    <dgm:sp3d z="-110000">
      <a:bevelT w="40600" h="20600" prst="relaxedInset"/>
    </dgm:sp3d>
    <dgm:txPr/>
    <dgm:style>
      <a:lnRef idx="0">
        <a:scrgbClr r="0" g="0" b="0"/>
      </a:lnRef>
      <a:fillRef idx="1">
        <a:scrgbClr r="0" g="0" b="0"/>
      </a:fillRef>
      <a:effectRef idx="2">
        <a:scrgbClr r="0" g="0" b="0"/>
      </a:effectRef>
      <a:fontRef idx="minor"/>
    </dgm:style>
  </dgm:styleLbl>
  <dgm:styleLbl name="fgSibTrans2D1">
    <dgm:scene3d>
      <a:camera prst="orthographicFront"/>
      <a:lightRig rig="threePt" dir="t"/>
    </dgm:scene3d>
    <dgm:sp3d z="10600">
      <a:bevelT w="40600" h="20600" prst="relaxedInset"/>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z="-211800">
      <a:bevelT w="40600" h="20600" prst="relaxedInset"/>
    </dgm:sp3d>
    <dgm:txPr/>
    <dgm:style>
      <a:lnRef idx="0">
        <a:scrgbClr r="0" g="0" b="0"/>
      </a:lnRef>
      <a:fillRef idx="1">
        <a:scrgbClr r="0" g="0" b="0"/>
      </a:fillRef>
      <a:effectRef idx="2">
        <a:scrgbClr r="0" g="0" b="0"/>
      </a:effectRef>
      <a:fontRef idx="minor"/>
    </dgm:style>
  </dgm:styleLbl>
  <dgm:styleLbl name="sibTrans1D1">
    <dgm:scene3d>
      <a:camera prst="orthographicFront"/>
      <a:lightRig rig="threePt" dir="t"/>
    </dgm:scene3d>
    <dgm:sp3d z="-110000"/>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0000"/>
    <dgm:txPr/>
    <dgm:style>
      <a:lnRef idx="1">
        <a:scrgbClr r="0" g="0" b="0"/>
      </a:lnRef>
      <a:fillRef idx="1">
        <a:scrgbClr r="0" g="0" b="0"/>
      </a:fillRef>
      <a:effectRef idx="0">
        <a:scrgbClr r="0" g="0" b="0"/>
      </a:effectRef>
      <a:fontRef idx="minor"/>
    </dgm:style>
  </dgm:styleLbl>
  <dgm:styleLbl name="asst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parChTrans2D1">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2">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3">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2D4">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1D1">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50600">
      <a:bevelT w="101600" h="80600"/>
      <a:bevelB w="80600" h="80600"/>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50600">
      <a:bevelT w="101600" h="80600"/>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solidBgAcc1">
    <dgm:scene3d>
      <a:camera prst="orthographicFront"/>
      <a:lightRig rig="threePt" dir="t"/>
    </dgm:scene3d>
    <dgm:sp3d z="-161800" extrusionH="10600" contourW="3000">
      <a:bevelT w="48600" h="8600" prst="softRound"/>
      <a:bevelB w="48600" h="8600" prst="relaxedInset"/>
    </dgm:sp3d>
    <dgm:txPr/>
    <dgm:style>
      <a:lnRef idx="0">
        <a:scrgbClr r="0" g="0" b="0"/>
      </a:lnRef>
      <a:fillRef idx="1">
        <a:scrgbClr r="0" g="0" b="0"/>
      </a:fillRef>
      <a:effectRef idx="0">
        <a:scrgbClr r="0" g="0" b="0"/>
      </a:effectRef>
      <a:fontRef idx="minor"/>
    </dgm:style>
  </dgm:styleLbl>
  <dgm:styleLbl name="fgAccFollowNode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161800" extrusionH="10600" contourW="3000">
      <a:bevelT w="48600" h="8600" prst="relaxedInset"/>
      <a:bevelB w="48600" h="8600" prst="relaxedInset"/>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618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50600">
      <a:bevelT w="80600" h="80600" prst="relaxedInset"/>
      <a:bevelB w="80600" h="80600" prst="relaxedInset"/>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200" extrusionH="600" contourW="3000" prstMaterial="plastic">
      <a:bevelT w="80600" h="18600" prst="relaxedInset"/>
      <a:bevelB w="80600" h="8600" prst="relaxedInset"/>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A666E0-C270-4F2D-A5DC-96BE795B540E}" type="datetimeFigureOut">
              <a:rPr lang="en-US" smtClean="0"/>
              <a:t>8/17/2026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19044B-B5AF-477C-950C-4ED51263438D}" type="slidenum">
              <a:rPr lang="en-US" smtClean="0"/>
              <a:t>‹#›</a:t>
            </a:fld>
            <a:endParaRPr lang="en-US"/>
          </a:p>
        </p:txBody>
      </p:sp>
    </p:spTree>
    <p:extLst>
      <p:ext uri="{BB962C8B-B14F-4D97-AF65-F5344CB8AC3E}">
        <p14:creationId xmlns:p14="http://schemas.microsoft.com/office/powerpoint/2010/main" val="22086060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F84AE20-9EAE-4BB7-93AC-7EFA05BCA1CF}" type="slidenum">
              <a:rPr lang="en-IN" smtClean="0"/>
              <a:t>1</a:t>
            </a:fld>
            <a:endParaRPr lang="en-IN" dirty="0"/>
          </a:p>
        </p:txBody>
      </p:sp>
    </p:spTree>
    <p:extLst>
      <p:ext uri="{BB962C8B-B14F-4D97-AF65-F5344CB8AC3E}">
        <p14:creationId xmlns:p14="http://schemas.microsoft.com/office/powerpoint/2010/main" val="22274734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E162C7A-CC9D-4035-A213-68F795EB7A2A}" type="slidenum">
              <a:rPr lang="en-IN" smtClean="0"/>
              <a:t>5</a:t>
            </a:fld>
            <a:endParaRPr lang="en-IN"/>
          </a:p>
        </p:txBody>
      </p:sp>
    </p:spTree>
    <p:extLst>
      <p:ext uri="{BB962C8B-B14F-4D97-AF65-F5344CB8AC3E}">
        <p14:creationId xmlns:p14="http://schemas.microsoft.com/office/powerpoint/2010/main" val="16477035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2BE77-A6B4-BF9A-F59F-6A1C17E6D45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9F4D497-63DE-C270-40A4-331A37D0B0E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7809C3A-1739-D230-186B-84454F605084}"/>
              </a:ext>
            </a:extLst>
          </p:cNvPr>
          <p:cNvSpPr>
            <a:spLocks noGrp="1"/>
          </p:cNvSpPr>
          <p:nvPr>
            <p:ph type="dt" sz="half" idx="10"/>
          </p:nvPr>
        </p:nvSpPr>
        <p:spPr/>
        <p:txBody>
          <a:bodyPr/>
          <a:lstStyle/>
          <a:p>
            <a:fld id="{E227863A-4956-4659-9192-3D74DA4F7578}" type="datetimeFigureOut">
              <a:rPr lang="en-US" smtClean="0"/>
              <a:t>8/17/2026</a:t>
            </a:fld>
            <a:endParaRPr lang="en-US"/>
          </a:p>
        </p:txBody>
      </p:sp>
      <p:sp>
        <p:nvSpPr>
          <p:cNvPr id="5" name="Footer Placeholder 4">
            <a:extLst>
              <a:ext uri="{FF2B5EF4-FFF2-40B4-BE49-F238E27FC236}">
                <a16:creationId xmlns:a16="http://schemas.microsoft.com/office/drawing/2014/main" id="{F5A63778-C058-1235-D3A3-7BCFF3CD01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9A1708-DD63-B8A6-CDE5-A057B2CF873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4086997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A0280-1254-E679-102E-D8CC13C8C6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784D78-2E62-1C74-D557-5115FDC295B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B02B77-F303-2F09-80CB-35B74D2F58C9}"/>
              </a:ext>
            </a:extLst>
          </p:cNvPr>
          <p:cNvSpPr>
            <a:spLocks noGrp="1"/>
          </p:cNvSpPr>
          <p:nvPr>
            <p:ph type="dt" sz="half" idx="10"/>
          </p:nvPr>
        </p:nvSpPr>
        <p:spPr/>
        <p:txBody>
          <a:bodyPr/>
          <a:lstStyle/>
          <a:p>
            <a:fld id="{E227863A-4956-4659-9192-3D74DA4F7578}" type="datetimeFigureOut">
              <a:rPr lang="en-US" smtClean="0"/>
              <a:t>8/17/2026</a:t>
            </a:fld>
            <a:endParaRPr lang="en-US"/>
          </a:p>
        </p:txBody>
      </p:sp>
      <p:sp>
        <p:nvSpPr>
          <p:cNvPr id="5" name="Footer Placeholder 4">
            <a:extLst>
              <a:ext uri="{FF2B5EF4-FFF2-40B4-BE49-F238E27FC236}">
                <a16:creationId xmlns:a16="http://schemas.microsoft.com/office/drawing/2014/main" id="{A13359BF-B012-085F-389A-331E721BC9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1B0460-9CE8-D43D-79E7-A7A9144A3AD0}"/>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6301623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87D46-3DEF-526E-5F46-4ADACBEC0AC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55A517A-D5B3-3AF2-38BE-1D89988138B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D602125-0289-3272-156D-A3C31E848252}"/>
              </a:ext>
            </a:extLst>
          </p:cNvPr>
          <p:cNvSpPr>
            <a:spLocks noGrp="1"/>
          </p:cNvSpPr>
          <p:nvPr>
            <p:ph type="dt" sz="half" idx="10"/>
          </p:nvPr>
        </p:nvSpPr>
        <p:spPr/>
        <p:txBody>
          <a:bodyPr/>
          <a:lstStyle/>
          <a:p>
            <a:fld id="{E227863A-4956-4659-9192-3D74DA4F7578}" type="datetimeFigureOut">
              <a:rPr lang="en-US" smtClean="0"/>
              <a:t>8/17/2026</a:t>
            </a:fld>
            <a:endParaRPr lang="en-US"/>
          </a:p>
        </p:txBody>
      </p:sp>
      <p:sp>
        <p:nvSpPr>
          <p:cNvPr id="5" name="Footer Placeholder 4">
            <a:extLst>
              <a:ext uri="{FF2B5EF4-FFF2-40B4-BE49-F238E27FC236}">
                <a16:creationId xmlns:a16="http://schemas.microsoft.com/office/drawing/2014/main" id="{659971A6-CC5A-CC09-A1F2-E284284E87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9898D5-FC90-9DA1-FE2F-D07DEDDAD616}"/>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0399524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89433-0D52-95EF-D78E-4FC912D4FC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1A2DAE-6EF3-6910-5373-1A5DF409095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991AE70-38B9-B797-DE71-57CAE4C82D2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725E50E-F402-07A4-460F-3431CA999232}"/>
              </a:ext>
            </a:extLst>
          </p:cNvPr>
          <p:cNvSpPr>
            <a:spLocks noGrp="1"/>
          </p:cNvSpPr>
          <p:nvPr>
            <p:ph type="dt" sz="half" idx="10"/>
          </p:nvPr>
        </p:nvSpPr>
        <p:spPr/>
        <p:txBody>
          <a:bodyPr/>
          <a:lstStyle/>
          <a:p>
            <a:fld id="{E227863A-4956-4659-9192-3D74DA4F7578}" type="datetimeFigureOut">
              <a:rPr lang="en-US" smtClean="0"/>
              <a:t>8/17/2026</a:t>
            </a:fld>
            <a:endParaRPr lang="en-US"/>
          </a:p>
        </p:txBody>
      </p:sp>
      <p:sp>
        <p:nvSpPr>
          <p:cNvPr id="6" name="Footer Placeholder 5">
            <a:extLst>
              <a:ext uri="{FF2B5EF4-FFF2-40B4-BE49-F238E27FC236}">
                <a16:creationId xmlns:a16="http://schemas.microsoft.com/office/drawing/2014/main" id="{664D7A32-7B4B-0167-CBD3-4FB4F42F73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EB928D-DF00-B9C5-1A36-1E52C14CBBB7}"/>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467198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CFE06-EEED-5CC3-A38A-576DD2C8AF0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DB0BA8C-9EDE-BB49-BD35-49BAFCB8D3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E1DDD39-7D2C-4493-F56F-81F6BC3F98D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714469B-6213-D34D-07A9-FCDC82AC0F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6440F3-3F2D-85CC-D2E2-6D0D54B8A29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D346DE1-9818-60AF-EAF8-FFED39BA5E89}"/>
              </a:ext>
            </a:extLst>
          </p:cNvPr>
          <p:cNvSpPr>
            <a:spLocks noGrp="1"/>
          </p:cNvSpPr>
          <p:nvPr>
            <p:ph type="dt" sz="half" idx="10"/>
          </p:nvPr>
        </p:nvSpPr>
        <p:spPr/>
        <p:txBody>
          <a:bodyPr/>
          <a:lstStyle/>
          <a:p>
            <a:fld id="{E227863A-4956-4659-9192-3D74DA4F7578}" type="datetimeFigureOut">
              <a:rPr lang="en-US" smtClean="0"/>
              <a:t>8/17/2026</a:t>
            </a:fld>
            <a:endParaRPr lang="en-US"/>
          </a:p>
        </p:txBody>
      </p:sp>
      <p:sp>
        <p:nvSpPr>
          <p:cNvPr id="8" name="Footer Placeholder 7">
            <a:extLst>
              <a:ext uri="{FF2B5EF4-FFF2-40B4-BE49-F238E27FC236}">
                <a16:creationId xmlns:a16="http://schemas.microsoft.com/office/drawing/2014/main" id="{265E9E00-6460-F360-EDFD-B03FBA2C63B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ABFFDD7-5BFE-EA3B-6250-A381A569564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362514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CE0FC-511C-2C2C-E510-CDDF263418E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C796671-3C71-777F-3A4D-A89D7E5D68FA}"/>
              </a:ext>
            </a:extLst>
          </p:cNvPr>
          <p:cNvSpPr>
            <a:spLocks noGrp="1"/>
          </p:cNvSpPr>
          <p:nvPr>
            <p:ph type="dt" sz="half" idx="10"/>
          </p:nvPr>
        </p:nvSpPr>
        <p:spPr/>
        <p:txBody>
          <a:bodyPr/>
          <a:lstStyle/>
          <a:p>
            <a:fld id="{E227863A-4956-4659-9192-3D74DA4F7578}" type="datetimeFigureOut">
              <a:rPr lang="en-US" smtClean="0"/>
              <a:t>8/17/2026</a:t>
            </a:fld>
            <a:endParaRPr lang="en-US"/>
          </a:p>
        </p:txBody>
      </p:sp>
      <p:sp>
        <p:nvSpPr>
          <p:cNvPr id="4" name="Footer Placeholder 3">
            <a:extLst>
              <a:ext uri="{FF2B5EF4-FFF2-40B4-BE49-F238E27FC236}">
                <a16:creationId xmlns:a16="http://schemas.microsoft.com/office/drawing/2014/main" id="{30024A6A-95A8-2753-339B-FC09D4CAEB8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59E07AF-B1A0-E180-D5AC-3F2F0031C98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1824662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8527A8-9BA5-6E6B-9B96-E6F6FADC46A2}"/>
              </a:ext>
            </a:extLst>
          </p:cNvPr>
          <p:cNvSpPr>
            <a:spLocks noGrp="1"/>
          </p:cNvSpPr>
          <p:nvPr>
            <p:ph type="dt" sz="half" idx="10"/>
          </p:nvPr>
        </p:nvSpPr>
        <p:spPr/>
        <p:txBody>
          <a:bodyPr/>
          <a:lstStyle/>
          <a:p>
            <a:fld id="{E227863A-4956-4659-9192-3D74DA4F7578}" type="datetimeFigureOut">
              <a:rPr lang="en-US" smtClean="0"/>
              <a:t>8/17/2026</a:t>
            </a:fld>
            <a:endParaRPr lang="en-US"/>
          </a:p>
        </p:txBody>
      </p:sp>
      <p:sp>
        <p:nvSpPr>
          <p:cNvPr id="3" name="Footer Placeholder 2">
            <a:extLst>
              <a:ext uri="{FF2B5EF4-FFF2-40B4-BE49-F238E27FC236}">
                <a16:creationId xmlns:a16="http://schemas.microsoft.com/office/drawing/2014/main" id="{4EAB8C98-6C07-7CF9-228C-EF7E6514747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2347070-DD15-038E-31F6-EF9EAD920E5F}"/>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483214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28049-15BD-A06B-510D-51342C765D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B77F51D-EFF8-F91B-8F7D-613493BF844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443686E-4EC3-3B25-F2B1-DEF00AA476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24C9A3-A390-80A1-50AD-21AB6B252580}"/>
              </a:ext>
            </a:extLst>
          </p:cNvPr>
          <p:cNvSpPr>
            <a:spLocks noGrp="1"/>
          </p:cNvSpPr>
          <p:nvPr>
            <p:ph type="dt" sz="half" idx="10"/>
          </p:nvPr>
        </p:nvSpPr>
        <p:spPr/>
        <p:txBody>
          <a:bodyPr/>
          <a:lstStyle/>
          <a:p>
            <a:fld id="{E227863A-4956-4659-9192-3D74DA4F7578}" type="datetimeFigureOut">
              <a:rPr lang="en-US" smtClean="0"/>
              <a:t>8/17/2026</a:t>
            </a:fld>
            <a:endParaRPr lang="en-US"/>
          </a:p>
        </p:txBody>
      </p:sp>
      <p:sp>
        <p:nvSpPr>
          <p:cNvPr id="6" name="Footer Placeholder 5">
            <a:extLst>
              <a:ext uri="{FF2B5EF4-FFF2-40B4-BE49-F238E27FC236}">
                <a16:creationId xmlns:a16="http://schemas.microsoft.com/office/drawing/2014/main" id="{E83FB16C-3A67-2F8D-2205-B1FF3BE2C6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137A69-0E62-6668-A184-42A6DBF6B07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0894807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AFB01-3CD4-CFD9-5A71-411262FAAC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9DCEFF8-AB3F-42A6-ADAF-1080336CCB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3914F7C-5D5A-7C5D-50F2-B5067E1E61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E767C3-2493-217A-8E1D-03F6BBB4ACBD}"/>
              </a:ext>
            </a:extLst>
          </p:cNvPr>
          <p:cNvSpPr>
            <a:spLocks noGrp="1"/>
          </p:cNvSpPr>
          <p:nvPr>
            <p:ph type="dt" sz="half" idx="10"/>
          </p:nvPr>
        </p:nvSpPr>
        <p:spPr/>
        <p:txBody>
          <a:bodyPr/>
          <a:lstStyle/>
          <a:p>
            <a:fld id="{E227863A-4956-4659-9192-3D74DA4F7578}" type="datetimeFigureOut">
              <a:rPr lang="en-US" smtClean="0"/>
              <a:t>8/17/2026</a:t>
            </a:fld>
            <a:endParaRPr lang="en-US"/>
          </a:p>
        </p:txBody>
      </p:sp>
      <p:sp>
        <p:nvSpPr>
          <p:cNvPr id="6" name="Footer Placeholder 5">
            <a:extLst>
              <a:ext uri="{FF2B5EF4-FFF2-40B4-BE49-F238E27FC236}">
                <a16:creationId xmlns:a16="http://schemas.microsoft.com/office/drawing/2014/main" id="{348FEBF7-64BD-7F85-1240-C02E3705BD1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064DB1-56E3-B1C9-BED9-904A25C29434}"/>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2129736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BCD61-B1C9-A34D-6022-ADB9D4B22C3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124F7E8-10E7-E6C8-474D-2A06ED50159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E7D405-5D32-C40F-1430-5F5A97DD4FAF}"/>
              </a:ext>
            </a:extLst>
          </p:cNvPr>
          <p:cNvSpPr>
            <a:spLocks noGrp="1"/>
          </p:cNvSpPr>
          <p:nvPr>
            <p:ph type="dt" sz="half" idx="10"/>
          </p:nvPr>
        </p:nvSpPr>
        <p:spPr/>
        <p:txBody>
          <a:bodyPr/>
          <a:lstStyle/>
          <a:p>
            <a:fld id="{E227863A-4956-4659-9192-3D74DA4F7578}" type="datetimeFigureOut">
              <a:rPr lang="en-US" smtClean="0"/>
              <a:t>8/17/2026</a:t>
            </a:fld>
            <a:endParaRPr lang="en-US"/>
          </a:p>
        </p:txBody>
      </p:sp>
      <p:sp>
        <p:nvSpPr>
          <p:cNvPr id="5" name="Footer Placeholder 4">
            <a:extLst>
              <a:ext uri="{FF2B5EF4-FFF2-40B4-BE49-F238E27FC236}">
                <a16:creationId xmlns:a16="http://schemas.microsoft.com/office/drawing/2014/main" id="{7BD9955A-6D2E-8ABB-AF09-EC9590F01F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9E1B21-A5D1-C625-FE7B-A0232576A69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917886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5699036-2042-AC93-5117-4059611F3CE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22DD23D-712F-710C-F8D8-B4B2B3E0592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095516-E45F-6DA1-08EA-04E781DF5CCB}"/>
              </a:ext>
            </a:extLst>
          </p:cNvPr>
          <p:cNvSpPr>
            <a:spLocks noGrp="1"/>
          </p:cNvSpPr>
          <p:nvPr>
            <p:ph type="dt" sz="half" idx="10"/>
          </p:nvPr>
        </p:nvSpPr>
        <p:spPr/>
        <p:txBody>
          <a:bodyPr/>
          <a:lstStyle/>
          <a:p>
            <a:fld id="{E227863A-4956-4659-9192-3D74DA4F7578}" type="datetimeFigureOut">
              <a:rPr lang="en-US" smtClean="0"/>
              <a:t>8/17/2026</a:t>
            </a:fld>
            <a:endParaRPr lang="en-US"/>
          </a:p>
        </p:txBody>
      </p:sp>
      <p:sp>
        <p:nvSpPr>
          <p:cNvPr id="5" name="Footer Placeholder 4">
            <a:extLst>
              <a:ext uri="{FF2B5EF4-FFF2-40B4-BE49-F238E27FC236}">
                <a16:creationId xmlns:a16="http://schemas.microsoft.com/office/drawing/2014/main" id="{8B171DB9-D5C7-9EFA-0532-06B0BAAF41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735D92-5A89-BE34-CC33-93F56B3EDB49}"/>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387349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1F6EA6A-8FF5-49DF-BDDD-F7431B447D8F}" type="datetime3">
              <a:rPr lang="en-US" smtClean="0"/>
              <a:t>17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0808602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F411EB6-9770-43AB-BBCE-044F1DB66B82}" type="datetime3">
              <a:rPr lang="en-US" smtClean="0"/>
              <a:t>17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3482983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DC905DC-9CDD-41AE-979C-F366BC0443ED}" type="datetime3">
              <a:rPr lang="en-US" smtClean="0"/>
              <a:t>17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7399230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84FAC05-A025-4B8A-AB88-2AE8812F8A48}" type="datetime3">
              <a:rPr lang="en-US" smtClean="0"/>
              <a:t>17 August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719083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87906D5-6813-455D-BAA0-28A983958C32}" type="datetime3">
              <a:rPr lang="en-US" smtClean="0"/>
              <a:t>17 August 2026</a:t>
            </a:fld>
            <a:endParaRPr lang="en-IN"/>
          </a:p>
        </p:txBody>
      </p:sp>
      <p:sp>
        <p:nvSpPr>
          <p:cNvPr id="8" name="Footer Placeholder 7"/>
          <p:cNvSpPr>
            <a:spLocks noGrp="1"/>
          </p:cNvSpPr>
          <p:nvPr>
            <p:ph type="ftr" sz="quarter" idx="11"/>
          </p:nvPr>
        </p:nvSpPr>
        <p:spPr/>
        <p:txBody>
          <a:bodyPr/>
          <a:lstStyle/>
          <a:p>
            <a:r>
              <a:rPr lang="en-IN"/>
              <a:t>Ph.D. Viva Voce</a:t>
            </a:r>
          </a:p>
        </p:txBody>
      </p:sp>
      <p:sp>
        <p:nvSpPr>
          <p:cNvPr id="9" name="Slide Number Placeholder 8"/>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5784857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F4309C4-DF5F-4FAA-9214-A2117415D598}" type="datetime3">
              <a:rPr lang="en-US" smtClean="0"/>
              <a:t>17 August 2026</a:t>
            </a:fld>
            <a:endParaRPr lang="en-IN"/>
          </a:p>
        </p:txBody>
      </p:sp>
      <p:sp>
        <p:nvSpPr>
          <p:cNvPr id="4" name="Footer Placeholder 3"/>
          <p:cNvSpPr>
            <a:spLocks noGrp="1"/>
          </p:cNvSpPr>
          <p:nvPr>
            <p:ph type="ftr" sz="quarter" idx="11"/>
          </p:nvPr>
        </p:nvSpPr>
        <p:spPr/>
        <p:txBody>
          <a:bodyPr/>
          <a:lstStyle/>
          <a:p>
            <a:r>
              <a:rPr lang="en-IN"/>
              <a:t>Ph.D. Viva Voce</a:t>
            </a:r>
          </a:p>
        </p:txBody>
      </p:sp>
      <p:sp>
        <p:nvSpPr>
          <p:cNvPr id="5" name="Slide Number Placeholder 4"/>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373388491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4683E30-D762-4164-BBF9-9799116ED611}" type="datetime3">
              <a:rPr lang="en-US" smtClean="0"/>
              <a:t>17 August 2026</a:t>
            </a:fld>
            <a:endParaRPr lang="en-IN"/>
          </a:p>
        </p:txBody>
      </p:sp>
      <p:sp>
        <p:nvSpPr>
          <p:cNvPr id="3" name="Footer Placeholder 2"/>
          <p:cNvSpPr>
            <a:spLocks noGrp="1"/>
          </p:cNvSpPr>
          <p:nvPr>
            <p:ph type="ftr" sz="quarter" idx="11"/>
          </p:nvPr>
        </p:nvSpPr>
        <p:spPr/>
        <p:txBody>
          <a:bodyPr/>
          <a:lstStyle/>
          <a:p>
            <a:r>
              <a:rPr lang="en-IN"/>
              <a:t>Ph.D. Viva Voce</a:t>
            </a:r>
          </a:p>
        </p:txBody>
      </p:sp>
      <p:sp>
        <p:nvSpPr>
          <p:cNvPr id="4" name="Slide Number Placeholder 3"/>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67188672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EEB4AA-F6FE-4EF1-9FE6-D5606E858D35}" type="datetime3">
              <a:rPr lang="en-US" smtClean="0"/>
              <a:t>17 August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474917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7B547F9-D0DE-4919-BAA4-23065C38E70B}" type="datetime3">
              <a:rPr lang="en-US" smtClean="0"/>
              <a:t>17 August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04633191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30D9772-7494-4C65-A0D8-1FBD740B2E65}" type="datetime3">
              <a:rPr lang="en-US" smtClean="0"/>
              <a:t>17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330758400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BB089DC-0019-49C7-8AD2-EF5D896393D8}" type="datetime3">
              <a:rPr lang="en-US" smtClean="0"/>
              <a:t>17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2045954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9711898-360B-AD49-DD62-FA3B7B6626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1A2BE89-A274-4461-2B81-50587446319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4B2A70-C1DC-D783-67E1-97822E79A5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227863A-4956-4659-9192-3D74DA4F7578}" type="datetimeFigureOut">
              <a:rPr lang="en-US" smtClean="0"/>
              <a:t>8/17/2026</a:t>
            </a:fld>
            <a:endParaRPr lang="en-US"/>
          </a:p>
        </p:txBody>
      </p:sp>
      <p:sp>
        <p:nvSpPr>
          <p:cNvPr id="5" name="Footer Placeholder 4">
            <a:extLst>
              <a:ext uri="{FF2B5EF4-FFF2-40B4-BE49-F238E27FC236}">
                <a16:creationId xmlns:a16="http://schemas.microsoft.com/office/drawing/2014/main" id="{08C5D01A-229C-E067-7B4E-BC254D6544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0741767-E51C-1DAB-E3C8-F047E87A83D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639234F-78F1-4984-9C4D-D4C7AB587871}" type="slidenum">
              <a:rPr lang="en-US" smtClean="0"/>
              <a:t>‹#›</a:t>
            </a:fld>
            <a:endParaRPr lang="en-US"/>
          </a:p>
        </p:txBody>
      </p:sp>
    </p:spTree>
    <p:extLst>
      <p:ext uri="{BB962C8B-B14F-4D97-AF65-F5344CB8AC3E}">
        <p14:creationId xmlns:p14="http://schemas.microsoft.com/office/powerpoint/2010/main" val="16456373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16266A-CA82-4709-A4C2-B8B2AD8F4816}" type="datetime3">
              <a:rPr lang="en-US" smtClean="0"/>
              <a:t>17 August 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Ph.D. Viva Voce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AD1135-6E10-4422-AC8B-257B84239C9C}" type="slidenum">
              <a:rPr lang="en-IN" smtClean="0"/>
              <a:t>‹#›</a:t>
            </a:fld>
            <a:endParaRPr lang="en-IN"/>
          </a:p>
        </p:txBody>
      </p:sp>
    </p:spTree>
    <p:extLst>
      <p:ext uri="{BB962C8B-B14F-4D97-AF65-F5344CB8AC3E}">
        <p14:creationId xmlns:p14="http://schemas.microsoft.com/office/powerpoint/2010/main" val="291376645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hyperlink" Target="https://svgsilh.com/03a9f4/image/98809.html" TargetMode="External"/><Relationship Id="rId7" Type="http://schemas.openxmlformats.org/officeDocument/2006/relationships/diagramColors" Target="../diagrams/colors1.xml"/><Relationship Id="rId2" Type="http://schemas.openxmlformats.org/officeDocument/2006/relationships/image" Target="../media/image2.svg"/><Relationship Id="rId1" Type="http://schemas.openxmlformats.org/officeDocument/2006/relationships/slideLayout" Target="../slideLayouts/slideLayout18.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 Id="rId9"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500C0830-A1CA-96AE-68D2-18C57ABE4802}"/>
              </a:ext>
            </a:extLst>
          </p:cNvPr>
          <p:cNvSpPr txBox="1"/>
          <p:nvPr/>
        </p:nvSpPr>
        <p:spPr>
          <a:xfrm>
            <a:off x="2995612" y="2868213"/>
            <a:ext cx="6200774" cy="492443"/>
          </a:xfrm>
          <a:prstGeom prst="rect">
            <a:avLst/>
          </a:prstGeom>
          <a:noFill/>
          <a:effectLst>
            <a:glow rad="139700">
              <a:schemeClr val="accent2">
                <a:satMod val="175000"/>
                <a:alpha val="40000"/>
              </a:schemeClr>
            </a:glow>
          </a:effectLst>
        </p:spPr>
        <p:txBody>
          <a:bodyPr wrap="square">
            <a:spAutoFit/>
          </a:bodyPr>
          <a:lstStyle/>
          <a:p>
            <a:pPr algn="ctr"/>
            <a:endParaRPr lang="en-IN" sz="600" dirty="0">
              <a:latin typeface="Times New Roman" panose="02020603050405020304" pitchFamily="18" charset="0"/>
              <a:cs typeface="Times New Roman" panose="02020603050405020304" pitchFamily="18" charset="0"/>
            </a:endParaRPr>
          </a:p>
          <a:p>
            <a:pPr algn="ctr"/>
            <a:r>
              <a:rPr lang="en-IN" sz="2000" b="1" dirty="0">
                <a:solidFill>
                  <a:srgbClr val="FF0000"/>
                </a:solidFill>
                <a:latin typeface="Times New Roman" panose="02020603050405020304" pitchFamily="18" charset="0"/>
                <a:cs typeface="Times New Roman" panose="02020603050405020304" pitchFamily="18" charset="0"/>
              </a:rPr>
              <a:t>18-08-2026 / 2:00</a:t>
            </a:r>
          </a:p>
        </p:txBody>
      </p:sp>
      <p:graphicFrame>
        <p:nvGraphicFramePr>
          <p:cNvPr id="18" name="Table 17">
            <a:extLst>
              <a:ext uri="{FF2B5EF4-FFF2-40B4-BE49-F238E27FC236}">
                <a16:creationId xmlns:a16="http://schemas.microsoft.com/office/drawing/2014/main" id="{BD22BC4D-4857-7D81-7819-37B7BB426420}"/>
              </a:ext>
            </a:extLst>
          </p:cNvPr>
          <p:cNvGraphicFramePr>
            <a:graphicFrameLocks noGrp="1"/>
          </p:cNvGraphicFramePr>
          <p:nvPr>
            <p:extLst>
              <p:ext uri="{D42A27DB-BD31-4B8C-83A1-F6EECF244321}">
                <p14:modId xmlns:p14="http://schemas.microsoft.com/office/powerpoint/2010/main" val="1622806404"/>
              </p:ext>
            </p:extLst>
          </p:nvPr>
        </p:nvGraphicFramePr>
        <p:xfrm>
          <a:off x="7924798" y="4538579"/>
          <a:ext cx="4114799" cy="335280"/>
        </p:xfrm>
        <a:graphic>
          <a:graphicData uri="http://schemas.openxmlformats.org/drawingml/2006/table">
            <a:tbl>
              <a:tblPr firstRow="1" bandRow="1">
                <a:tableStyleId>{5940675A-B579-460E-94D1-54222C63F5DA}</a:tableStyleId>
              </a:tblPr>
              <a:tblGrid>
                <a:gridCol w="4114799">
                  <a:extLst>
                    <a:ext uri="{9D8B030D-6E8A-4147-A177-3AD203B41FA5}">
                      <a16:colId xmlns:a16="http://schemas.microsoft.com/office/drawing/2014/main" val="40058472"/>
                    </a:ext>
                  </a:extLst>
                </a:gridCol>
              </a:tblGrid>
              <a:tr h="28093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600" b="1" dirty="0">
                          <a:solidFill>
                            <a:srgbClr val="C00000"/>
                          </a:solidFill>
                          <a:latin typeface="Times New Roman" panose="02020603050405020304" pitchFamily="18" charset="0"/>
                          <a:cs typeface="Times New Roman" panose="02020603050405020304" pitchFamily="18" charset="0"/>
                        </a:rPr>
                        <a:t>Team Members</a:t>
                      </a:r>
                    </a:p>
                  </a:txBody>
                  <a:tcPr/>
                </a:tc>
                <a:extLst>
                  <a:ext uri="{0D108BD9-81ED-4DB2-BD59-A6C34878D82A}">
                    <a16:rowId xmlns:a16="http://schemas.microsoft.com/office/drawing/2014/main" val="4108782725"/>
                  </a:ext>
                </a:extLst>
              </a:tr>
            </a:tbl>
          </a:graphicData>
        </a:graphic>
      </p:graphicFrame>
      <p:grpSp>
        <p:nvGrpSpPr>
          <p:cNvPr id="21" name="Group 20">
            <a:extLst>
              <a:ext uri="{FF2B5EF4-FFF2-40B4-BE49-F238E27FC236}">
                <a16:creationId xmlns:a16="http://schemas.microsoft.com/office/drawing/2014/main" id="{B5A8CA37-C090-A9D8-75D0-A7A7D5DEBE24}"/>
              </a:ext>
            </a:extLst>
          </p:cNvPr>
          <p:cNvGrpSpPr/>
          <p:nvPr/>
        </p:nvGrpSpPr>
        <p:grpSpPr>
          <a:xfrm>
            <a:off x="7776982" y="4342216"/>
            <a:ext cx="230240" cy="232995"/>
            <a:chOff x="1567861" y="1613059"/>
            <a:chExt cx="230240" cy="232995"/>
          </a:xfrm>
          <a:solidFill>
            <a:srgbClr val="FF66FF"/>
          </a:solidFill>
        </p:grpSpPr>
        <p:sp>
          <p:nvSpPr>
            <p:cNvPr id="22" name="Isosceles Triangle 21">
              <a:extLst>
                <a:ext uri="{FF2B5EF4-FFF2-40B4-BE49-F238E27FC236}">
                  <a16:creationId xmlns:a16="http://schemas.microsoft.com/office/drawing/2014/main" id="{E48399A6-AAB5-B502-9670-34E0FCDF5541}"/>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23" name="Isosceles Triangle 22">
              <a:extLst>
                <a:ext uri="{FF2B5EF4-FFF2-40B4-BE49-F238E27FC236}">
                  <a16:creationId xmlns:a16="http://schemas.microsoft.com/office/drawing/2014/main" id="{67E59050-351C-0873-0298-AB77EA522C22}"/>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graphicFrame>
        <p:nvGraphicFramePr>
          <p:cNvPr id="30" name="Table 29">
            <a:extLst>
              <a:ext uri="{FF2B5EF4-FFF2-40B4-BE49-F238E27FC236}">
                <a16:creationId xmlns:a16="http://schemas.microsoft.com/office/drawing/2014/main" id="{9091FADF-77DB-CB1D-CD72-56C53CF76308}"/>
              </a:ext>
            </a:extLst>
          </p:cNvPr>
          <p:cNvGraphicFramePr>
            <a:graphicFrameLocks noGrp="1"/>
          </p:cNvGraphicFramePr>
          <p:nvPr>
            <p:extLst>
              <p:ext uri="{D42A27DB-BD31-4B8C-83A1-F6EECF244321}">
                <p14:modId xmlns:p14="http://schemas.microsoft.com/office/powerpoint/2010/main" val="2690241835"/>
              </p:ext>
            </p:extLst>
          </p:nvPr>
        </p:nvGraphicFramePr>
        <p:xfrm>
          <a:off x="-795813" y="4774125"/>
          <a:ext cx="5902325" cy="1366520"/>
        </p:xfrm>
        <a:graphic>
          <a:graphicData uri="http://schemas.openxmlformats.org/drawingml/2006/table">
            <a:tbl>
              <a:tblPr firstRow="1" bandRow="1">
                <a:tableStyleId>{5940675A-B579-460E-94D1-54222C63F5DA}</a:tableStyleId>
              </a:tblPr>
              <a:tblGrid>
                <a:gridCol w="1373565">
                  <a:extLst>
                    <a:ext uri="{9D8B030D-6E8A-4147-A177-3AD203B41FA5}">
                      <a16:colId xmlns:a16="http://schemas.microsoft.com/office/drawing/2014/main" val="40058472"/>
                    </a:ext>
                  </a:extLst>
                </a:gridCol>
                <a:gridCol w="4528760">
                  <a:extLst>
                    <a:ext uri="{9D8B030D-6E8A-4147-A177-3AD203B41FA5}">
                      <a16:colId xmlns:a16="http://schemas.microsoft.com/office/drawing/2014/main" val="1330242319"/>
                    </a:ext>
                  </a:extLst>
                </a:gridCol>
              </a:tblGrid>
              <a:tr h="1332118">
                <a:tc>
                  <a:txBody>
                    <a:bodyPr/>
                    <a:lstStyle/>
                    <a:p>
                      <a:endParaRPr lang="en-IN"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IN" sz="500" b="1" dirty="0">
                        <a:solidFill>
                          <a:srgbClr val="C00000"/>
                        </a:solidFill>
                        <a:latin typeface="Times New Roman" panose="02020603050405020304" pitchFamily="18" charset="0"/>
                        <a:cs typeface="Times New Roman" panose="02020603050405020304" pitchFamily="18" charset="0"/>
                      </a:endParaRPr>
                    </a:p>
                    <a:p>
                      <a:r>
                        <a:rPr lang="en-IN" sz="1600" b="1" dirty="0">
                          <a:solidFill>
                            <a:srgbClr val="C00000"/>
                          </a:solidFill>
                          <a:latin typeface="Times New Roman" panose="02020603050405020304" pitchFamily="18" charset="0"/>
                          <a:cs typeface="Times New Roman" panose="02020603050405020304" pitchFamily="18" charset="0"/>
                        </a:rPr>
                        <a:t>Under the Guidance of</a:t>
                      </a:r>
                    </a:p>
                    <a:p>
                      <a:pPr marL="0" indent="0" algn="l">
                        <a:lnSpc>
                          <a:spcPct val="100000"/>
                        </a:lnSpc>
                        <a:spcBef>
                          <a:spcPts val="200"/>
                        </a:spcBef>
                        <a:buSzPts val="810"/>
                        <a:buNone/>
                      </a:pPr>
                      <a:r>
                        <a:rPr lang="en-US" sz="1400" b="1" dirty="0">
                          <a:solidFill>
                            <a:schemeClr val="dk1"/>
                          </a:solidFill>
                          <a:latin typeface="Times New Roman" panose="02020603050405020304" pitchFamily="18" charset="0"/>
                          <a:ea typeface="Cambria"/>
                          <a:cs typeface="Times New Roman" panose="02020603050405020304" pitchFamily="18" charset="0"/>
                          <a:sym typeface="Cambria"/>
                        </a:rPr>
                        <a:t>Dr. Neelima Gogineni</a:t>
                      </a:r>
                    </a:p>
                    <a:p>
                      <a:pPr marL="0" indent="0" algn="l">
                        <a:lnSpc>
                          <a:spcPct val="100000"/>
                        </a:lnSpc>
                        <a:spcBef>
                          <a:spcPts val="200"/>
                        </a:spcBef>
                        <a:buSzPts val="810"/>
                        <a:buNone/>
                      </a:pPr>
                      <a:r>
                        <a:rPr lang="en-US" sz="1400" dirty="0">
                          <a:solidFill>
                            <a:schemeClr val="dk1"/>
                          </a:solidFill>
                          <a:latin typeface="Times New Roman" panose="02020603050405020304" pitchFamily="18" charset="0"/>
                          <a:ea typeface="Cambria"/>
                          <a:cs typeface="Times New Roman" panose="02020603050405020304" pitchFamily="18" charset="0"/>
                          <a:sym typeface="Cambria"/>
                        </a:rPr>
                        <a:t>Professor, </a:t>
                      </a:r>
                    </a:p>
                    <a:p>
                      <a:pPr marL="0" indent="0" algn="l">
                        <a:lnSpc>
                          <a:spcPct val="100000"/>
                        </a:lnSpc>
                        <a:spcBef>
                          <a:spcPts val="200"/>
                        </a:spcBef>
                        <a:buSzPts val="810"/>
                        <a:buNone/>
                      </a:pPr>
                      <a:r>
                        <a:rPr lang="en-US" sz="1400" b="1" dirty="0">
                          <a:solidFill>
                            <a:schemeClr val="dk1"/>
                          </a:solidFill>
                          <a:latin typeface="Times New Roman" panose="02020603050405020304" pitchFamily="18" charset="0"/>
                          <a:ea typeface="Cambria"/>
                          <a:cs typeface="Times New Roman" panose="02020603050405020304" pitchFamily="18" charset="0"/>
                          <a:sym typeface="Cambria"/>
                        </a:rPr>
                        <a:t>Department of </a:t>
                      </a:r>
                      <a:r>
                        <a:rPr lang="en-US" sz="1400" b="1" dirty="0">
                          <a:solidFill>
                            <a:prstClr val="black"/>
                          </a:solidFill>
                          <a:latin typeface="Times New Roman" panose="02020603050405020304" pitchFamily="18" charset="0"/>
                          <a:ea typeface="Cambria"/>
                          <a:cs typeface="Times New Roman" panose="02020603050405020304" pitchFamily="18" charset="0"/>
                          <a:sym typeface="Cambria"/>
                        </a:rPr>
                        <a:t>Computer Science and Engineering, </a:t>
                      </a:r>
                    </a:p>
                    <a:p>
                      <a:pPr marL="0" indent="0" algn="l">
                        <a:lnSpc>
                          <a:spcPct val="100000"/>
                        </a:lnSpc>
                        <a:spcBef>
                          <a:spcPts val="200"/>
                        </a:spcBef>
                        <a:buSzPts val="810"/>
                        <a:buNone/>
                      </a:pPr>
                      <a:r>
                        <a:rPr lang="en-US" sz="1400" dirty="0">
                          <a:solidFill>
                            <a:schemeClr val="dk1"/>
                          </a:solidFill>
                          <a:latin typeface="Times New Roman" panose="02020603050405020304" pitchFamily="18" charset="0"/>
                          <a:ea typeface="Cambria"/>
                          <a:cs typeface="Times New Roman" panose="02020603050405020304" pitchFamily="18" charset="0"/>
                          <a:sym typeface="Cambria"/>
                        </a:rPr>
                        <a:t>KLH CSE Bowrampet Campus</a:t>
                      </a:r>
                      <a:endParaRPr lang="en-US" sz="1400" dirty="0">
                        <a:solidFill>
                          <a:schemeClr val="dk1"/>
                        </a:solidFill>
                        <a:latin typeface="Times New Roman" panose="02020603050405020304" pitchFamily="18" charset="0"/>
                        <a:ea typeface="Cambria"/>
                        <a:cs typeface="Times New Roman" panose="02020603050405020304" pitchFamily="18" charset="0"/>
                        <a:sym typeface="Arial"/>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31" name="Group 30">
            <a:extLst>
              <a:ext uri="{FF2B5EF4-FFF2-40B4-BE49-F238E27FC236}">
                <a16:creationId xmlns:a16="http://schemas.microsoft.com/office/drawing/2014/main" id="{8A67E7A6-1F33-FBD3-09B8-F35F17C8F890}"/>
              </a:ext>
            </a:extLst>
          </p:cNvPr>
          <p:cNvGrpSpPr/>
          <p:nvPr/>
        </p:nvGrpSpPr>
        <p:grpSpPr>
          <a:xfrm>
            <a:off x="442519" y="4562547"/>
            <a:ext cx="230240" cy="232995"/>
            <a:chOff x="1567861" y="1613059"/>
            <a:chExt cx="230240" cy="232995"/>
          </a:xfrm>
          <a:solidFill>
            <a:srgbClr val="00B0F0"/>
          </a:solidFill>
        </p:grpSpPr>
        <p:sp>
          <p:nvSpPr>
            <p:cNvPr id="32" name="Isosceles Triangle 31">
              <a:extLst>
                <a:ext uri="{FF2B5EF4-FFF2-40B4-BE49-F238E27FC236}">
                  <a16:creationId xmlns:a16="http://schemas.microsoft.com/office/drawing/2014/main" id="{FE269535-B3A3-75F2-310C-D43D8AC3F905}"/>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33" name="Isosceles Triangle 32">
              <a:extLst>
                <a:ext uri="{FF2B5EF4-FFF2-40B4-BE49-F238E27FC236}">
                  <a16:creationId xmlns:a16="http://schemas.microsoft.com/office/drawing/2014/main" id="{FA8E9237-F9D3-FB94-D6EB-94D77AEFD506}"/>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34" name="Date Placeholder 33">
            <a:extLst>
              <a:ext uri="{FF2B5EF4-FFF2-40B4-BE49-F238E27FC236}">
                <a16:creationId xmlns:a16="http://schemas.microsoft.com/office/drawing/2014/main" id="{C1554CCE-4DF8-89E6-E0F6-3C2A1439C7FA}"/>
              </a:ext>
            </a:extLst>
          </p:cNvPr>
          <p:cNvSpPr>
            <a:spLocks noGrp="1"/>
          </p:cNvSpPr>
          <p:nvPr>
            <p:ph type="dt" sz="half" idx="10"/>
          </p:nvPr>
        </p:nvSpPr>
        <p:spPr/>
        <p:txBody>
          <a:bodyPr/>
          <a:lstStyle/>
          <a:p>
            <a:r>
              <a:rPr lang="en-US" b="1" dirty="0"/>
              <a:t>Date</a:t>
            </a:r>
            <a:endParaRPr lang="en-IN" b="1" dirty="0"/>
          </a:p>
        </p:txBody>
      </p:sp>
      <p:sp>
        <p:nvSpPr>
          <p:cNvPr id="35" name="Footer Placeholder 34">
            <a:extLst>
              <a:ext uri="{FF2B5EF4-FFF2-40B4-BE49-F238E27FC236}">
                <a16:creationId xmlns:a16="http://schemas.microsoft.com/office/drawing/2014/main" id="{8FB49AA0-2464-6225-6B6C-063F9A6ECD20}"/>
              </a:ext>
            </a:extLst>
          </p:cNvPr>
          <p:cNvSpPr>
            <a:spLocks noGrp="1"/>
          </p:cNvSpPr>
          <p:nvPr>
            <p:ph type="ftr" sz="quarter" idx="11"/>
          </p:nvPr>
        </p:nvSpPr>
        <p:spPr/>
        <p:txBody>
          <a:bodyPr/>
          <a:lstStyle/>
          <a:p>
            <a:r>
              <a:rPr lang="en-IN" b="1" dirty="0"/>
              <a:t>SOA Project Review-1</a:t>
            </a:r>
          </a:p>
        </p:txBody>
      </p:sp>
      <p:sp>
        <p:nvSpPr>
          <p:cNvPr id="36" name="Slide Number Placeholder 35">
            <a:extLst>
              <a:ext uri="{FF2B5EF4-FFF2-40B4-BE49-F238E27FC236}">
                <a16:creationId xmlns:a16="http://schemas.microsoft.com/office/drawing/2014/main" id="{28F834F9-83AA-E3F9-773A-4B7A83B345F7}"/>
              </a:ext>
            </a:extLst>
          </p:cNvPr>
          <p:cNvSpPr>
            <a:spLocks noGrp="1"/>
          </p:cNvSpPr>
          <p:nvPr>
            <p:ph type="sldNum" sz="quarter" idx="12"/>
          </p:nvPr>
        </p:nvSpPr>
        <p:spPr/>
        <p:txBody>
          <a:bodyPr/>
          <a:lstStyle/>
          <a:p>
            <a:fld id="{01AD1135-6E10-4422-AC8B-257B84239C9C}" type="slidenum">
              <a:rPr lang="en-IN" smtClean="0"/>
              <a:t>1</a:t>
            </a:fld>
            <a:endParaRPr lang="en-IN" dirty="0"/>
          </a:p>
        </p:txBody>
      </p:sp>
      <p:sp>
        <p:nvSpPr>
          <p:cNvPr id="4" name="Rectangle: Rounded Corners 3">
            <a:extLst>
              <a:ext uri="{FF2B5EF4-FFF2-40B4-BE49-F238E27FC236}">
                <a16:creationId xmlns:a16="http://schemas.microsoft.com/office/drawing/2014/main" id="{4EE5F681-D3B5-BC4B-8AA4-5688DCEEFB44}"/>
              </a:ext>
            </a:extLst>
          </p:cNvPr>
          <p:cNvSpPr/>
          <p:nvPr/>
        </p:nvSpPr>
        <p:spPr>
          <a:xfrm>
            <a:off x="638175" y="769267"/>
            <a:ext cx="10915650" cy="985640"/>
          </a:xfrm>
          <a:prstGeom prst="round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C00000"/>
              </a:solidFill>
              <a:effectLst/>
              <a:uLnTx/>
              <a:uFillTx/>
              <a:latin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dirty="0">
              <a:ln>
                <a:noFill/>
              </a:ln>
              <a:solidFill>
                <a:schemeClr val="bg1"/>
              </a:solidFill>
              <a:effectLst/>
              <a:uLnTx/>
              <a:uFillTx/>
              <a:latin typeface="Times New Roman" panose="02020603050405020304" pitchFamily="18" charset="0"/>
              <a:cs typeface="Times New Roman" panose="02020603050405020304" pitchFamily="18" charset="0"/>
            </a:endParaRPr>
          </a:p>
          <a:p>
            <a:pPr algn="ctr"/>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A4782FAE-AFAF-27B2-2591-CFAF7695BD03}"/>
              </a:ext>
            </a:extLst>
          </p:cNvPr>
          <p:cNvPicPr>
            <a:picLocks noChangeAspect="1"/>
          </p:cNvPicPr>
          <p:nvPr/>
        </p:nvPicPr>
        <p:blipFill>
          <a:blip r:embed="rId3"/>
          <a:stretch>
            <a:fillRect/>
          </a:stretch>
        </p:blipFill>
        <p:spPr>
          <a:xfrm>
            <a:off x="10249380" y="0"/>
            <a:ext cx="1942620" cy="622550"/>
          </a:xfrm>
          <a:prstGeom prst="rect">
            <a:avLst/>
          </a:prstGeom>
        </p:spPr>
      </p:pic>
      <p:sp>
        <p:nvSpPr>
          <p:cNvPr id="14" name="TextBox 13">
            <a:extLst>
              <a:ext uri="{FF2B5EF4-FFF2-40B4-BE49-F238E27FC236}">
                <a16:creationId xmlns:a16="http://schemas.microsoft.com/office/drawing/2014/main" id="{DD4CF64F-3FB6-0CE4-B778-63C5D5A1D343}"/>
              </a:ext>
            </a:extLst>
          </p:cNvPr>
          <p:cNvSpPr txBox="1"/>
          <p:nvPr/>
        </p:nvSpPr>
        <p:spPr>
          <a:xfrm>
            <a:off x="441989" y="909557"/>
            <a:ext cx="11308019" cy="584775"/>
          </a:xfrm>
          <a:prstGeom prst="rect">
            <a:avLst/>
          </a:prstGeom>
          <a:noFill/>
        </p:spPr>
        <p:txBody>
          <a:bodyPr wrap="square">
            <a:spAutoFit/>
          </a:bodyPr>
          <a:lstStyle/>
          <a:p>
            <a:pPr lvl="0" algn="ctr">
              <a:defRPr/>
            </a:pPr>
            <a:r>
              <a:rPr lang="en-US" sz="3200" b="1" dirty="0">
                <a:solidFill>
                  <a:schemeClr val="bg1"/>
                </a:solidFill>
                <a:latin typeface="Times New Roman" panose="02020603050405020304" pitchFamily="18" charset="0"/>
                <a:cs typeface="Times New Roman" panose="02020603050405020304" pitchFamily="18" charset="0"/>
              </a:rPr>
              <a:t>AI-Powered Student Project Tracking &amp; Management System</a:t>
            </a:r>
            <a:endParaRPr kumimoji="0" lang="en-US" sz="3200" b="1" i="0" u="none" strike="noStrike" kern="1200" cap="none" spc="0" normalizeH="0" baseline="0" noProof="0" dirty="0">
              <a:ln>
                <a:noFill/>
              </a:ln>
              <a:solidFill>
                <a:schemeClr val="bg1"/>
              </a:solidFill>
              <a:effectLst/>
              <a:uLnTx/>
              <a:uFillTx/>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id="{D25BC1A0-FDE4-1557-375E-6E0BD69BC77B}"/>
              </a:ext>
            </a:extLst>
          </p:cNvPr>
          <p:cNvSpPr txBox="1"/>
          <p:nvPr/>
        </p:nvSpPr>
        <p:spPr>
          <a:xfrm>
            <a:off x="738187" y="2246806"/>
            <a:ext cx="10715625" cy="584775"/>
          </a:xfrm>
          <a:prstGeom prst="rect">
            <a:avLst/>
          </a:prstGeom>
          <a:noFill/>
        </p:spPr>
        <p:txBody>
          <a:bodyPr wrap="square">
            <a:spAutoFit/>
          </a:bodyPr>
          <a:lstStyle/>
          <a:p>
            <a:pPr lvl="0" algn="ctr">
              <a:defRPr/>
            </a:pPr>
            <a:r>
              <a:rPr lang="en-IN" sz="3200" b="1" dirty="0">
                <a:latin typeface="Times New Roman" panose="02020603050405020304" pitchFamily="18" charset="0"/>
                <a:cs typeface="Times New Roman" panose="02020603050405020304" pitchFamily="18" charset="0"/>
              </a:rPr>
              <a:t>SOA Project Review-1</a:t>
            </a:r>
          </a:p>
        </p:txBody>
      </p:sp>
      <p:graphicFrame>
        <p:nvGraphicFramePr>
          <p:cNvPr id="2" name="Table 1">
            <a:extLst>
              <a:ext uri="{FF2B5EF4-FFF2-40B4-BE49-F238E27FC236}">
                <a16:creationId xmlns:a16="http://schemas.microsoft.com/office/drawing/2014/main" id="{DB293678-AF99-3D16-EFA4-B4E9601F9D11}"/>
              </a:ext>
            </a:extLst>
          </p:cNvPr>
          <p:cNvGraphicFramePr>
            <a:graphicFrameLocks noGrp="1"/>
          </p:cNvGraphicFramePr>
          <p:nvPr>
            <p:extLst>
              <p:ext uri="{D42A27DB-BD31-4B8C-83A1-F6EECF244321}">
                <p14:modId xmlns:p14="http://schemas.microsoft.com/office/powerpoint/2010/main" val="159594854"/>
              </p:ext>
            </p:extLst>
          </p:nvPr>
        </p:nvGraphicFramePr>
        <p:xfrm>
          <a:off x="7924799" y="4901848"/>
          <a:ext cx="4114802" cy="1463040"/>
        </p:xfrm>
        <a:graphic>
          <a:graphicData uri="http://schemas.openxmlformats.org/drawingml/2006/table">
            <a:tbl>
              <a:tblPr firstRow="1" bandRow="1">
                <a:tableStyleId>{793D81CF-94F2-401A-BA57-92F5A7B2D0C5}</a:tableStyleId>
              </a:tblPr>
              <a:tblGrid>
                <a:gridCol w="2057401">
                  <a:extLst>
                    <a:ext uri="{9D8B030D-6E8A-4147-A177-3AD203B41FA5}">
                      <a16:colId xmlns:a16="http://schemas.microsoft.com/office/drawing/2014/main" val="1282102583"/>
                    </a:ext>
                  </a:extLst>
                </a:gridCol>
                <a:gridCol w="2057401">
                  <a:extLst>
                    <a:ext uri="{9D8B030D-6E8A-4147-A177-3AD203B41FA5}">
                      <a16:colId xmlns:a16="http://schemas.microsoft.com/office/drawing/2014/main" val="123006612"/>
                    </a:ext>
                  </a:extLst>
                </a:gridCol>
              </a:tblGrid>
              <a:tr h="315720">
                <a:tc>
                  <a:txBody>
                    <a:bodyPr/>
                    <a:lstStyle/>
                    <a:p>
                      <a:pPr algn="ctr"/>
                      <a:r>
                        <a:rPr lang="en-US" dirty="0"/>
                        <a:t>Name</a:t>
                      </a:r>
                    </a:p>
                  </a:txBody>
                  <a:tcPr/>
                </a:tc>
                <a:tc>
                  <a:txBody>
                    <a:bodyPr/>
                    <a:lstStyle/>
                    <a:p>
                      <a:pPr algn="ctr"/>
                      <a:r>
                        <a:rPr lang="en-US" dirty="0"/>
                        <a:t>Roll Number</a:t>
                      </a:r>
                    </a:p>
                  </a:txBody>
                  <a:tcPr/>
                </a:tc>
                <a:extLst>
                  <a:ext uri="{0D108BD9-81ED-4DB2-BD59-A6C34878D82A}">
                    <a16:rowId xmlns:a16="http://schemas.microsoft.com/office/drawing/2014/main" val="4256362692"/>
                  </a:ext>
                </a:extLst>
              </a:tr>
              <a:tr h="315720">
                <a:tc>
                  <a:txBody>
                    <a:bodyPr/>
                    <a:lstStyle/>
                    <a:p>
                      <a:r>
                        <a:rPr lang="en-US" dirty="0"/>
                        <a:t>Kommineni Rahul</a:t>
                      </a:r>
                    </a:p>
                  </a:txBody>
                  <a:tcPr/>
                </a:tc>
                <a:tc>
                  <a:txBody>
                    <a:bodyPr/>
                    <a:lstStyle/>
                    <a:p>
                      <a:r>
                        <a:rPr lang="en-US" dirty="0"/>
                        <a:t>2420030011</a:t>
                      </a:r>
                    </a:p>
                  </a:txBody>
                  <a:tcPr/>
                </a:tc>
                <a:extLst>
                  <a:ext uri="{0D108BD9-81ED-4DB2-BD59-A6C34878D82A}">
                    <a16:rowId xmlns:a16="http://schemas.microsoft.com/office/drawing/2014/main" val="164970794"/>
                  </a:ext>
                </a:extLst>
              </a:tr>
              <a:tr h="315720">
                <a:tc>
                  <a:txBody>
                    <a:bodyPr/>
                    <a:lstStyle/>
                    <a:p>
                      <a:r>
                        <a:rPr lang="en-US" dirty="0"/>
                        <a:t>Pathi Sharmila</a:t>
                      </a:r>
                    </a:p>
                  </a:txBody>
                  <a:tcPr/>
                </a:tc>
                <a:tc>
                  <a:txBody>
                    <a:bodyPr/>
                    <a:lstStyle/>
                    <a:p>
                      <a:r>
                        <a:rPr lang="en-US" dirty="0"/>
                        <a:t>2420030042</a:t>
                      </a:r>
                    </a:p>
                  </a:txBody>
                  <a:tcPr/>
                </a:tc>
                <a:extLst>
                  <a:ext uri="{0D108BD9-81ED-4DB2-BD59-A6C34878D82A}">
                    <a16:rowId xmlns:a16="http://schemas.microsoft.com/office/drawing/2014/main" val="1169090504"/>
                  </a:ext>
                </a:extLst>
              </a:tr>
              <a:tr h="315720">
                <a:tc>
                  <a:txBody>
                    <a:bodyPr/>
                    <a:lstStyle/>
                    <a:p>
                      <a:r>
                        <a:rPr lang="en-US" dirty="0"/>
                        <a:t>Ivaturi Vennela</a:t>
                      </a:r>
                    </a:p>
                  </a:txBody>
                  <a:tcPr/>
                </a:tc>
                <a:tc>
                  <a:txBody>
                    <a:bodyPr/>
                    <a:lstStyle/>
                    <a:p>
                      <a:r>
                        <a:rPr lang="en-US" dirty="0"/>
                        <a:t>2420030185</a:t>
                      </a:r>
                    </a:p>
                  </a:txBody>
                  <a:tcPr/>
                </a:tc>
                <a:extLst>
                  <a:ext uri="{0D108BD9-81ED-4DB2-BD59-A6C34878D82A}">
                    <a16:rowId xmlns:a16="http://schemas.microsoft.com/office/drawing/2014/main" val="2037930075"/>
                  </a:ext>
                </a:extLst>
              </a:tr>
            </a:tbl>
          </a:graphicData>
        </a:graphic>
      </p:graphicFrame>
    </p:spTree>
    <p:extLst>
      <p:ext uri="{BB962C8B-B14F-4D97-AF65-F5344CB8AC3E}">
        <p14:creationId xmlns:p14="http://schemas.microsoft.com/office/powerpoint/2010/main" val="22476026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B6FAE64B-DFA9-4528-D74E-DAEA88C008D5}"/>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4" name="Footer Placeholder 3">
            <a:extLst>
              <a:ext uri="{FF2B5EF4-FFF2-40B4-BE49-F238E27FC236}">
                <a16:creationId xmlns:a16="http://schemas.microsoft.com/office/drawing/2014/main" id="{41222DE7-17C6-1B7E-71C0-2347B0AA2C6B}"/>
              </a:ext>
            </a:extLst>
          </p:cNvPr>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5" name="Slide Number Placeholder 4">
            <a:extLst>
              <a:ext uri="{FF2B5EF4-FFF2-40B4-BE49-F238E27FC236}">
                <a16:creationId xmlns:a16="http://schemas.microsoft.com/office/drawing/2014/main" id="{6420A00F-144B-157D-A12F-7CF90703CA18}"/>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A3A418F-4DEE-4BB1-940B-1145D135750E}"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9797C6D7-F4DC-4908-B610-D10EE43A9B41}"/>
              </a:ext>
            </a:extLst>
          </p:cNvPr>
          <p:cNvSpPr txBox="1"/>
          <p:nvPr/>
        </p:nvSpPr>
        <p:spPr>
          <a:xfrm>
            <a:off x="3020906" y="173546"/>
            <a:ext cx="5854242" cy="646331"/>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IN" sz="3600" b="1" i="0" u="none" strike="noStrike" kern="1200" cap="none" spc="0" normalizeH="0" baseline="0" noProof="0" dirty="0">
                <a:ln w="0"/>
                <a:solidFill>
                  <a:srgbClr val="4472C4"/>
                </a:solidFill>
                <a:effectLst/>
                <a:uLnTx/>
                <a:uFillTx/>
                <a:latin typeface="Times New Roman" panose="02020603050405020304" pitchFamily="18" charset="0"/>
                <a:ea typeface="Cambria"/>
                <a:cs typeface="Times New Roman" panose="02020603050405020304" pitchFamily="18" charset="0"/>
              </a:rPr>
              <a:t>Outline of Project Work</a:t>
            </a:r>
          </a:p>
        </p:txBody>
      </p:sp>
      <p:grpSp>
        <p:nvGrpSpPr>
          <p:cNvPr id="8" name="Group 7">
            <a:extLst>
              <a:ext uri="{FF2B5EF4-FFF2-40B4-BE49-F238E27FC236}">
                <a16:creationId xmlns:a16="http://schemas.microsoft.com/office/drawing/2014/main" id="{B25CDE63-8DDC-4AC4-7713-9D89D6D0F4B1}"/>
              </a:ext>
            </a:extLst>
          </p:cNvPr>
          <p:cNvGrpSpPr/>
          <p:nvPr/>
        </p:nvGrpSpPr>
        <p:grpSpPr>
          <a:xfrm>
            <a:off x="2001361" y="1377996"/>
            <a:ext cx="6784432" cy="4438977"/>
            <a:chOff x="1929643" y="1656655"/>
            <a:chExt cx="6784432" cy="4438977"/>
          </a:xfrm>
        </p:grpSpPr>
        <p:sp>
          <p:nvSpPr>
            <p:cNvPr id="16" name="TextBox 15">
              <a:extLst>
                <a:ext uri="{FF2B5EF4-FFF2-40B4-BE49-F238E27FC236}">
                  <a16:creationId xmlns:a16="http://schemas.microsoft.com/office/drawing/2014/main" id="{C0A4CA55-824E-91B2-D5F9-032778D4B8B3}"/>
                </a:ext>
              </a:extLst>
            </p:cNvPr>
            <p:cNvSpPr txBox="1"/>
            <p:nvPr/>
          </p:nvSpPr>
          <p:spPr>
            <a:xfrm>
              <a:off x="2675533" y="3257433"/>
              <a:ext cx="4267376" cy="960328"/>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Challenges</a:t>
              </a:r>
            </a:p>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18" name="TextBox 17">
              <a:extLst>
                <a:ext uri="{FF2B5EF4-FFF2-40B4-BE49-F238E27FC236}">
                  <a16:creationId xmlns:a16="http://schemas.microsoft.com/office/drawing/2014/main" id="{EE7E17B2-5AF8-C463-91C3-5B87FC773369}"/>
                </a:ext>
              </a:extLst>
            </p:cNvPr>
            <p:cNvSpPr txBox="1"/>
            <p:nvPr/>
          </p:nvSpPr>
          <p:spPr>
            <a:xfrm>
              <a:off x="2922896" y="3753448"/>
              <a:ext cx="4374693" cy="873572"/>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Research Objectives</a:t>
              </a:r>
            </a:p>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18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20" name="TextBox 19">
              <a:extLst>
                <a:ext uri="{FF2B5EF4-FFF2-40B4-BE49-F238E27FC236}">
                  <a16:creationId xmlns:a16="http://schemas.microsoft.com/office/drawing/2014/main" id="{6D160BA9-A291-1BA5-C03E-7218C2169C28}"/>
                </a:ext>
              </a:extLst>
            </p:cNvPr>
            <p:cNvSpPr txBox="1"/>
            <p:nvPr/>
          </p:nvSpPr>
          <p:spPr>
            <a:xfrm>
              <a:off x="3139925" y="4332926"/>
              <a:ext cx="4529560" cy="937693"/>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Conclusion &amp; Future Work</a:t>
              </a:r>
            </a:p>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18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22" name="TextBox 21">
              <a:extLst>
                <a:ext uri="{FF2B5EF4-FFF2-40B4-BE49-F238E27FC236}">
                  <a16:creationId xmlns:a16="http://schemas.microsoft.com/office/drawing/2014/main" id="{6C792DA3-F484-948A-E346-F158FE24CE3F}"/>
                </a:ext>
              </a:extLst>
            </p:cNvPr>
            <p:cNvSpPr txBox="1"/>
            <p:nvPr/>
          </p:nvSpPr>
          <p:spPr>
            <a:xfrm>
              <a:off x="3426151" y="4880317"/>
              <a:ext cx="4774676" cy="919739"/>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References</a:t>
              </a:r>
              <a:b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br>
              <a:endPar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endParaRPr>
            </a:p>
          </p:txBody>
        </p:sp>
        <p:sp>
          <p:nvSpPr>
            <p:cNvPr id="24" name="TextBox 23">
              <a:extLst>
                <a:ext uri="{FF2B5EF4-FFF2-40B4-BE49-F238E27FC236}">
                  <a16:creationId xmlns:a16="http://schemas.microsoft.com/office/drawing/2014/main" id="{957E2443-43F4-3FA3-6C83-796D6B456220}"/>
                </a:ext>
              </a:extLst>
            </p:cNvPr>
            <p:cNvSpPr txBox="1"/>
            <p:nvPr/>
          </p:nvSpPr>
          <p:spPr>
            <a:xfrm>
              <a:off x="3822549" y="5483028"/>
              <a:ext cx="4891526" cy="612604"/>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Publications Details</a:t>
              </a:r>
            </a:p>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1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endParaRPr>
            </a:p>
          </p:txBody>
        </p:sp>
        <p:pic>
          <p:nvPicPr>
            <p:cNvPr id="7" name="Graphic 6">
              <a:extLst>
                <a:ext uri="{FF2B5EF4-FFF2-40B4-BE49-F238E27FC236}">
                  <a16:creationId xmlns:a16="http://schemas.microsoft.com/office/drawing/2014/main" id="{FEE87FCF-6A51-9005-163C-5E3B5C1257B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8229530" y="5002476"/>
              <a:ext cx="455841" cy="536286"/>
            </a:xfrm>
            <a:prstGeom prst="rect">
              <a:avLst/>
            </a:prstGeom>
          </p:spPr>
        </p:pic>
        <p:sp>
          <p:nvSpPr>
            <p:cNvPr id="28" name="Content Placeholder 11">
              <a:extLst>
                <a:ext uri="{FF2B5EF4-FFF2-40B4-BE49-F238E27FC236}">
                  <a16:creationId xmlns:a16="http://schemas.microsoft.com/office/drawing/2014/main" id="{F1211E34-5F1E-9B5C-4C59-2549F412DCD1}"/>
                </a:ext>
              </a:extLst>
            </p:cNvPr>
            <p:cNvSpPr txBox="1">
              <a:spLocks/>
            </p:cNvSpPr>
            <p:nvPr/>
          </p:nvSpPr>
          <p:spPr>
            <a:xfrm>
              <a:off x="1929643" y="1656655"/>
              <a:ext cx="3548330" cy="748994"/>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Focus</a:t>
              </a: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31" name="Content Placeholder 11">
              <a:extLst>
                <a:ext uri="{FF2B5EF4-FFF2-40B4-BE49-F238E27FC236}">
                  <a16:creationId xmlns:a16="http://schemas.microsoft.com/office/drawing/2014/main" id="{4D713724-2EA7-CA04-47B9-F63B3DAC496D}"/>
                </a:ext>
              </a:extLst>
            </p:cNvPr>
            <p:cNvSpPr txBox="1">
              <a:spLocks/>
            </p:cNvSpPr>
            <p:nvPr/>
          </p:nvSpPr>
          <p:spPr>
            <a:xfrm>
              <a:off x="2209801" y="2217836"/>
              <a:ext cx="3886200" cy="666229"/>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Introduction</a:t>
              </a: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36" name="Graphic 35">
              <a:extLst>
                <a:ext uri="{FF2B5EF4-FFF2-40B4-BE49-F238E27FC236}">
                  <a16:creationId xmlns:a16="http://schemas.microsoft.com/office/drawing/2014/main" id="{55B3B570-3194-94D5-869B-2F3E3E133BA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7683523" y="4358877"/>
              <a:ext cx="455841" cy="536286"/>
            </a:xfrm>
            <a:prstGeom prst="rect">
              <a:avLst/>
            </a:prstGeom>
          </p:spPr>
        </p:pic>
        <p:pic>
          <p:nvPicPr>
            <p:cNvPr id="37" name="Graphic 36">
              <a:extLst>
                <a:ext uri="{FF2B5EF4-FFF2-40B4-BE49-F238E27FC236}">
                  <a16:creationId xmlns:a16="http://schemas.microsoft.com/office/drawing/2014/main" id="{A01B3509-5090-7764-12FF-0CDB13E360A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7229942" y="3813495"/>
              <a:ext cx="455841" cy="536286"/>
            </a:xfrm>
            <a:prstGeom prst="rect">
              <a:avLst/>
            </a:prstGeom>
          </p:spPr>
        </p:pic>
        <p:pic>
          <p:nvPicPr>
            <p:cNvPr id="38" name="Graphic 37">
              <a:extLst>
                <a:ext uri="{FF2B5EF4-FFF2-40B4-BE49-F238E27FC236}">
                  <a16:creationId xmlns:a16="http://schemas.microsoft.com/office/drawing/2014/main" id="{4A5FDD7E-5A46-92A5-C963-19E091BBF72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863353" y="3200501"/>
              <a:ext cx="455841" cy="536286"/>
            </a:xfrm>
            <a:prstGeom prst="rect">
              <a:avLst/>
            </a:prstGeom>
          </p:spPr>
        </p:pic>
        <p:pic>
          <p:nvPicPr>
            <p:cNvPr id="39" name="Graphic 38">
              <a:extLst>
                <a:ext uri="{FF2B5EF4-FFF2-40B4-BE49-F238E27FC236}">
                  <a16:creationId xmlns:a16="http://schemas.microsoft.com/office/drawing/2014/main" id="{C50C5009-E2F0-E358-4C45-CAEADDEC93B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443196" y="2766955"/>
              <a:ext cx="455841" cy="536286"/>
            </a:xfrm>
            <a:prstGeom prst="rect">
              <a:avLst/>
            </a:prstGeom>
          </p:spPr>
        </p:pic>
        <p:pic>
          <p:nvPicPr>
            <p:cNvPr id="40" name="Graphic 39">
              <a:extLst>
                <a:ext uri="{FF2B5EF4-FFF2-40B4-BE49-F238E27FC236}">
                  <a16:creationId xmlns:a16="http://schemas.microsoft.com/office/drawing/2014/main" id="{F1D91F2F-C2FB-3146-467B-21A20C8410D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040392" y="2252522"/>
              <a:ext cx="455841" cy="536286"/>
            </a:xfrm>
            <a:prstGeom prst="rect">
              <a:avLst/>
            </a:prstGeom>
          </p:spPr>
        </p:pic>
        <p:pic>
          <p:nvPicPr>
            <p:cNvPr id="41" name="Graphic 40">
              <a:extLst>
                <a:ext uri="{FF2B5EF4-FFF2-40B4-BE49-F238E27FC236}">
                  <a16:creationId xmlns:a16="http://schemas.microsoft.com/office/drawing/2014/main" id="{7B0FD951-BFA0-1228-E572-2BFE866AEE7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5626122" y="1721293"/>
              <a:ext cx="455841" cy="536286"/>
            </a:xfrm>
            <a:prstGeom prst="rect">
              <a:avLst/>
            </a:prstGeom>
          </p:spPr>
        </p:pic>
        <p:sp>
          <p:nvSpPr>
            <p:cNvPr id="14" name="TextBox 13">
              <a:extLst>
                <a:ext uri="{FF2B5EF4-FFF2-40B4-BE49-F238E27FC236}">
                  <a16:creationId xmlns:a16="http://schemas.microsoft.com/office/drawing/2014/main" id="{576F380C-3238-E430-3C22-3C23884CE532}"/>
                </a:ext>
              </a:extLst>
            </p:cNvPr>
            <p:cNvSpPr txBox="1"/>
            <p:nvPr/>
          </p:nvSpPr>
          <p:spPr>
            <a:xfrm>
              <a:off x="2490411" y="2773626"/>
              <a:ext cx="4004225" cy="506870"/>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4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Literature Survey</a:t>
              </a:r>
              <a:endParaRPr kumimoji="0" lang="en-US" sz="204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grpSp>
      <p:graphicFrame>
        <p:nvGraphicFramePr>
          <p:cNvPr id="26" name="Diagram 25">
            <a:extLst>
              <a:ext uri="{FF2B5EF4-FFF2-40B4-BE49-F238E27FC236}">
                <a16:creationId xmlns:a16="http://schemas.microsoft.com/office/drawing/2014/main" id="{C044B753-17EC-8A45-927F-C44CC40ED5BA}"/>
              </a:ext>
            </a:extLst>
          </p:cNvPr>
          <p:cNvGraphicFramePr/>
          <p:nvPr/>
        </p:nvGraphicFramePr>
        <p:xfrm>
          <a:off x="41510" y="115414"/>
          <a:ext cx="1474694" cy="94234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10" name="Picture 9">
            <a:extLst>
              <a:ext uri="{FF2B5EF4-FFF2-40B4-BE49-F238E27FC236}">
                <a16:creationId xmlns:a16="http://schemas.microsoft.com/office/drawing/2014/main" id="{0B4D1914-919F-D842-1FC2-1BBFC0E95C24}"/>
              </a:ext>
            </a:extLst>
          </p:cNvPr>
          <p:cNvPicPr>
            <a:picLocks noChangeAspect="1"/>
          </p:cNvPicPr>
          <p:nvPr/>
        </p:nvPicPr>
        <p:blipFill>
          <a:blip r:embed="rId9"/>
          <a:stretch>
            <a:fillRect/>
          </a:stretch>
        </p:blipFill>
        <p:spPr>
          <a:xfrm>
            <a:off x="10249380" y="0"/>
            <a:ext cx="1901110" cy="622550"/>
          </a:xfrm>
          <a:prstGeom prst="rect">
            <a:avLst/>
          </a:prstGeom>
        </p:spPr>
      </p:pic>
    </p:spTree>
    <p:extLst>
      <p:ext uri="{BB962C8B-B14F-4D97-AF65-F5344CB8AC3E}">
        <p14:creationId xmlns:p14="http://schemas.microsoft.com/office/powerpoint/2010/main" val="27479694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C8F81-5402-FBBE-D32A-834F3C60336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DBD4C9C-9DEB-26F4-AA75-F51C06DD64DC}"/>
              </a:ext>
            </a:extLst>
          </p:cNvPr>
          <p:cNvSpPr txBox="1"/>
          <p:nvPr/>
        </p:nvSpPr>
        <p:spPr>
          <a:xfrm>
            <a:off x="3047999" y="894819"/>
            <a:ext cx="6096000" cy="646331"/>
          </a:xfrm>
          <a:prstGeom prst="rect">
            <a:avLst/>
          </a:prstGeom>
          <a:noFill/>
        </p:spPr>
        <p:txBody>
          <a:bodyPr wrap="square">
            <a:spAutoFit/>
          </a:bodyPr>
          <a:lstStyle/>
          <a:p>
            <a:pPr algn="ctr"/>
            <a:r>
              <a:rPr lang="en-US" sz="3600" b="1" dirty="0">
                <a:latin typeface="Times New Roman" panose="02020603050405020304" pitchFamily="18" charset="0"/>
                <a:cs typeface="Times New Roman" panose="02020603050405020304" pitchFamily="18" charset="0"/>
              </a:rPr>
              <a:t>Problem Statement</a:t>
            </a:r>
          </a:p>
        </p:txBody>
      </p:sp>
      <p:pic>
        <p:nvPicPr>
          <p:cNvPr id="3" name="Picture 2">
            <a:extLst>
              <a:ext uri="{FF2B5EF4-FFF2-40B4-BE49-F238E27FC236}">
                <a16:creationId xmlns:a16="http://schemas.microsoft.com/office/drawing/2014/main" id="{17A614DC-364B-1BD9-B452-BC2E55FD9D04}"/>
              </a:ext>
            </a:extLst>
          </p:cNvPr>
          <p:cNvPicPr>
            <a:picLocks noChangeAspect="1"/>
          </p:cNvPicPr>
          <p:nvPr/>
        </p:nvPicPr>
        <p:blipFill>
          <a:blip r:embed="rId2"/>
          <a:stretch>
            <a:fillRect/>
          </a:stretch>
        </p:blipFill>
        <p:spPr>
          <a:xfrm>
            <a:off x="10249380" y="0"/>
            <a:ext cx="1942620" cy="622550"/>
          </a:xfrm>
          <a:prstGeom prst="rect">
            <a:avLst/>
          </a:prstGeom>
        </p:spPr>
      </p:pic>
      <p:sp>
        <p:nvSpPr>
          <p:cNvPr id="2" name="TextBox 1">
            <a:extLst>
              <a:ext uri="{FF2B5EF4-FFF2-40B4-BE49-F238E27FC236}">
                <a16:creationId xmlns:a16="http://schemas.microsoft.com/office/drawing/2014/main" id="{D3997C1C-FDDB-6FAD-ED86-DE33120C57D5}"/>
              </a:ext>
            </a:extLst>
          </p:cNvPr>
          <p:cNvSpPr txBox="1"/>
          <p:nvPr/>
        </p:nvSpPr>
        <p:spPr>
          <a:xfrm>
            <a:off x="1443258" y="1905506"/>
            <a:ext cx="9305483" cy="3046988"/>
          </a:xfrm>
          <a:prstGeom prst="rect">
            <a:avLst/>
          </a:prstGeom>
          <a:noFill/>
        </p:spPr>
        <p:txBody>
          <a:bodyPr wrap="square" rtlCol="0">
            <a:spAutoFit/>
          </a:bodyPr>
          <a:lstStyle/>
          <a:p>
            <a:pPr algn="just"/>
            <a:r>
              <a:rPr lang="en-US" sz="2400" dirty="0">
                <a:latin typeface="Times New Roman" panose="02020603050405020304" pitchFamily="18" charset="0"/>
                <a:cs typeface="Times New Roman" panose="02020603050405020304" pitchFamily="18" charset="0"/>
              </a:rPr>
              <a:t>Students often struggle to effectively track project tasks, deadlines, and overall progress. Existing project management systems mainly provide basic task tracking and require users to manually monitor their work. They do not intelligently identify delayed or at-risk tasks or suggest what should be done next. Therefore, there is a need for an AI-powered Student Project Tracking System that automatically monitors project progress, detects potential delays, prioritizes tasks, and provides intelligent recommendations using a SOA/Microservices architecture.</a:t>
            </a:r>
          </a:p>
        </p:txBody>
      </p:sp>
    </p:spTree>
    <p:extLst>
      <p:ext uri="{BB962C8B-B14F-4D97-AF65-F5344CB8AC3E}">
        <p14:creationId xmlns:p14="http://schemas.microsoft.com/office/powerpoint/2010/main" val="18439377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4AF34-8CFC-8161-A3CD-DED259C92A6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F508849-A0DD-12D4-FD0D-5322CA138B2F}"/>
              </a:ext>
            </a:extLst>
          </p:cNvPr>
          <p:cNvSpPr txBox="1"/>
          <p:nvPr/>
        </p:nvSpPr>
        <p:spPr>
          <a:xfrm>
            <a:off x="3047999" y="750370"/>
            <a:ext cx="6096000" cy="646331"/>
          </a:xfrm>
          <a:prstGeom prst="rect">
            <a:avLst/>
          </a:prstGeom>
          <a:noFill/>
        </p:spPr>
        <p:txBody>
          <a:bodyPr wrap="square">
            <a:spAutoFit/>
          </a:bodyPr>
          <a:lstStyle/>
          <a:p>
            <a:pPr algn="ctr"/>
            <a:r>
              <a:rPr lang="en-US" sz="3600" b="1" dirty="0">
                <a:latin typeface="Times New Roman" panose="02020603050405020304" pitchFamily="18" charset="0"/>
                <a:cs typeface="Times New Roman" panose="02020603050405020304" pitchFamily="18" charset="0"/>
              </a:rPr>
              <a:t>Objectives</a:t>
            </a:r>
          </a:p>
        </p:txBody>
      </p:sp>
      <p:pic>
        <p:nvPicPr>
          <p:cNvPr id="3" name="Picture 2">
            <a:extLst>
              <a:ext uri="{FF2B5EF4-FFF2-40B4-BE49-F238E27FC236}">
                <a16:creationId xmlns:a16="http://schemas.microsoft.com/office/drawing/2014/main" id="{5B2C6E66-DFCA-CBBA-3972-F62C5800AE03}"/>
              </a:ext>
            </a:extLst>
          </p:cNvPr>
          <p:cNvPicPr>
            <a:picLocks noChangeAspect="1"/>
          </p:cNvPicPr>
          <p:nvPr/>
        </p:nvPicPr>
        <p:blipFill>
          <a:blip r:embed="rId2"/>
          <a:stretch>
            <a:fillRect/>
          </a:stretch>
        </p:blipFill>
        <p:spPr>
          <a:xfrm>
            <a:off x="10249380" y="0"/>
            <a:ext cx="1942620" cy="622550"/>
          </a:xfrm>
          <a:prstGeom prst="rect">
            <a:avLst/>
          </a:prstGeom>
        </p:spPr>
      </p:pic>
      <p:sp>
        <p:nvSpPr>
          <p:cNvPr id="2" name="TextBox 1">
            <a:extLst>
              <a:ext uri="{FF2B5EF4-FFF2-40B4-BE49-F238E27FC236}">
                <a16:creationId xmlns:a16="http://schemas.microsoft.com/office/drawing/2014/main" id="{FB3483F6-5406-D3E7-AEE1-183639A86C23}"/>
              </a:ext>
            </a:extLst>
          </p:cNvPr>
          <p:cNvSpPr txBox="1"/>
          <p:nvPr/>
        </p:nvSpPr>
        <p:spPr>
          <a:xfrm>
            <a:off x="1696064" y="1818967"/>
            <a:ext cx="8799871" cy="4154984"/>
          </a:xfrm>
          <a:prstGeom prst="rect">
            <a:avLst/>
          </a:prstGeom>
          <a:noFill/>
        </p:spPr>
        <p:txBody>
          <a:bodyPr wrap="square" rtlCol="0">
            <a:spAutoFit/>
          </a:bodyPr>
          <a:lstStyle/>
          <a:p>
            <a:pPr marL="285750" lvl="0" indent="-285750">
              <a:buFont typeface="Wingdings" panose="05000000000000000000" pitchFamily="2" charset="2"/>
              <a:buChar char="q"/>
            </a:pPr>
            <a:r>
              <a:rPr lang="en-US" sz="2400" b="1" dirty="0">
                <a:latin typeface="Times New Roman" panose="02020603050405020304" pitchFamily="18" charset="0"/>
                <a:cs typeface="Times New Roman" panose="02020603050405020304" pitchFamily="18" charset="0"/>
              </a:rPr>
              <a:t>To develop</a:t>
            </a:r>
            <a:r>
              <a:rPr lang="en-US" sz="2400" dirty="0">
                <a:latin typeface="Times New Roman" panose="02020603050405020304" pitchFamily="18" charset="0"/>
                <a:cs typeface="Times New Roman" panose="02020603050405020304" pitchFamily="18" charset="0"/>
              </a:rPr>
              <a:t> an AI-powered system for tracking student projects, tasks, deadlines, and progress. </a:t>
            </a:r>
          </a:p>
          <a:p>
            <a:pPr marL="285750" lvl="0" indent="-285750">
              <a:buFont typeface="Wingdings" panose="05000000000000000000" pitchFamily="2" charset="2"/>
              <a:buChar char="q"/>
            </a:pPr>
            <a:r>
              <a:rPr lang="en-US" sz="2400" b="1" dirty="0">
                <a:latin typeface="Times New Roman" panose="02020603050405020304" pitchFamily="18" charset="0"/>
                <a:cs typeface="Times New Roman" panose="02020603050405020304" pitchFamily="18" charset="0"/>
              </a:rPr>
              <a:t>To automate</a:t>
            </a:r>
            <a:r>
              <a:rPr lang="en-US" sz="2400" dirty="0">
                <a:latin typeface="Times New Roman" panose="02020603050405020304" pitchFamily="18" charset="0"/>
                <a:cs typeface="Times New Roman" panose="02020603050405020304" pitchFamily="18" charset="0"/>
              </a:rPr>
              <a:t> project monitoring using an AI Agent that analyzes task status and identifies pending, overdue, and at-risk tasks. </a:t>
            </a:r>
          </a:p>
          <a:p>
            <a:pPr marL="285750" lvl="0" indent="-285750">
              <a:buFont typeface="Wingdings" panose="05000000000000000000" pitchFamily="2" charset="2"/>
              <a:buChar char="q"/>
            </a:pPr>
            <a:r>
              <a:rPr lang="en-US" sz="2400" b="1" dirty="0">
                <a:latin typeface="Times New Roman" panose="02020603050405020304" pitchFamily="18" charset="0"/>
                <a:cs typeface="Times New Roman" panose="02020603050405020304" pitchFamily="18" charset="0"/>
              </a:rPr>
              <a:t>To prioritize</a:t>
            </a:r>
            <a:r>
              <a:rPr lang="en-US" sz="2400" dirty="0">
                <a:latin typeface="Times New Roman" panose="02020603050405020304" pitchFamily="18" charset="0"/>
                <a:cs typeface="Times New Roman" panose="02020603050405020304" pitchFamily="18" charset="0"/>
              </a:rPr>
              <a:t> tasks and recommend the next best action based on project progress and deadlines. </a:t>
            </a:r>
          </a:p>
          <a:p>
            <a:pPr marL="285750" lvl="0" indent="-285750">
              <a:buFont typeface="Wingdings" panose="05000000000000000000" pitchFamily="2" charset="2"/>
              <a:buChar char="q"/>
            </a:pPr>
            <a:r>
              <a:rPr lang="en-US" sz="2400" b="1" dirty="0">
                <a:latin typeface="Times New Roman" panose="02020603050405020304" pitchFamily="18" charset="0"/>
                <a:cs typeface="Times New Roman" panose="02020603050405020304" pitchFamily="18" charset="0"/>
              </a:rPr>
              <a:t>To implement</a:t>
            </a:r>
            <a:r>
              <a:rPr lang="en-US" sz="2400" dirty="0">
                <a:latin typeface="Times New Roman" panose="02020603050405020304" pitchFamily="18" charset="0"/>
                <a:cs typeface="Times New Roman" panose="02020603050405020304" pitchFamily="18" charset="0"/>
              </a:rPr>
              <a:t> the system using SOA/Microservices architecture for modular and scalable service integration. </a:t>
            </a:r>
          </a:p>
          <a:p>
            <a:pPr marL="285750" lvl="0" indent="-285750">
              <a:buFont typeface="Wingdings" panose="05000000000000000000" pitchFamily="2" charset="2"/>
              <a:buChar char="q"/>
            </a:pPr>
            <a:r>
              <a:rPr lang="en-US" sz="2400" b="1" dirty="0">
                <a:latin typeface="Times New Roman" panose="02020603050405020304" pitchFamily="18" charset="0"/>
                <a:cs typeface="Times New Roman" panose="02020603050405020304" pitchFamily="18" charset="0"/>
              </a:rPr>
              <a:t>To improve</a:t>
            </a:r>
            <a:r>
              <a:rPr lang="en-US" sz="2400" dirty="0">
                <a:latin typeface="Times New Roman" panose="02020603050405020304" pitchFamily="18" charset="0"/>
                <a:cs typeface="Times New Roman" panose="02020603050405020304" pitchFamily="18" charset="0"/>
              </a:rPr>
              <a:t> project management efficiency by providing timely and intelligent insights to students and faculty.</a:t>
            </a:r>
          </a:p>
          <a:p>
            <a:pPr marL="285750" indent="-285750">
              <a:buFont typeface="Wingdings" panose="05000000000000000000" pitchFamily="2" charset="2"/>
              <a:buChar char="q"/>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177829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AACD11AD-3AF5-B626-2B60-0567E4585BB7}"/>
              </a:ext>
            </a:extLst>
          </p:cNvPr>
          <p:cNvGraphicFramePr>
            <a:graphicFrameLocks/>
          </p:cNvGraphicFramePr>
          <p:nvPr>
            <p:extLst>
              <p:ext uri="{D42A27DB-BD31-4B8C-83A1-F6EECF244321}">
                <p14:modId xmlns:p14="http://schemas.microsoft.com/office/powerpoint/2010/main" val="3912116471"/>
              </p:ext>
            </p:extLst>
          </p:nvPr>
        </p:nvGraphicFramePr>
        <p:xfrm>
          <a:off x="274646" y="659745"/>
          <a:ext cx="11642705" cy="6014357"/>
        </p:xfrm>
        <a:graphic>
          <a:graphicData uri="http://schemas.openxmlformats.org/drawingml/2006/table">
            <a:tbl>
              <a:tblPr firstRow="1" bandRow="1">
                <a:tableStyleId>{BC89EF96-8CEA-46FF-86C4-4CE0E7609802}</a:tableStyleId>
              </a:tblPr>
              <a:tblGrid>
                <a:gridCol w="1160864">
                  <a:extLst>
                    <a:ext uri="{9D8B030D-6E8A-4147-A177-3AD203B41FA5}">
                      <a16:colId xmlns:a16="http://schemas.microsoft.com/office/drawing/2014/main" val="20001"/>
                    </a:ext>
                  </a:extLst>
                </a:gridCol>
                <a:gridCol w="2203430">
                  <a:extLst>
                    <a:ext uri="{9D8B030D-6E8A-4147-A177-3AD203B41FA5}">
                      <a16:colId xmlns:a16="http://schemas.microsoft.com/office/drawing/2014/main" val="20002"/>
                    </a:ext>
                  </a:extLst>
                </a:gridCol>
                <a:gridCol w="2476109">
                  <a:extLst>
                    <a:ext uri="{9D8B030D-6E8A-4147-A177-3AD203B41FA5}">
                      <a16:colId xmlns:a16="http://schemas.microsoft.com/office/drawing/2014/main" val="20003"/>
                    </a:ext>
                  </a:extLst>
                </a:gridCol>
                <a:gridCol w="2936588">
                  <a:extLst>
                    <a:ext uri="{9D8B030D-6E8A-4147-A177-3AD203B41FA5}">
                      <a16:colId xmlns:a16="http://schemas.microsoft.com/office/drawing/2014/main" val="20004"/>
                    </a:ext>
                  </a:extLst>
                </a:gridCol>
                <a:gridCol w="2865714">
                  <a:extLst>
                    <a:ext uri="{9D8B030D-6E8A-4147-A177-3AD203B41FA5}">
                      <a16:colId xmlns:a16="http://schemas.microsoft.com/office/drawing/2014/main" val="1396003017"/>
                    </a:ext>
                  </a:extLst>
                </a:gridCol>
              </a:tblGrid>
              <a:tr h="387917">
                <a:tc>
                  <a:txBody>
                    <a:bodyPr/>
                    <a:lstStyle/>
                    <a:p>
                      <a:pPr algn="ctr">
                        <a:buNone/>
                      </a:pPr>
                      <a:r>
                        <a:rPr lang="en-US" sz="1300" dirty="0">
                          <a:latin typeface="Times New Roman" pitchFamily="18" charset="0"/>
                          <a:cs typeface="Times New Roman" pitchFamily="18" charset="0"/>
                        </a:rPr>
                        <a:t>Authors</a:t>
                      </a:r>
                    </a:p>
                  </a:txBody>
                  <a:tcPr>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300" dirty="0">
                          <a:latin typeface="Times New Roman" pitchFamily="18" charset="0"/>
                          <a:cs typeface="Times New Roman" pitchFamily="18" charset="0"/>
                        </a:rPr>
                        <a:t>Title of the Paper</a:t>
                      </a:r>
                    </a:p>
                  </a:txBody>
                  <a:tcPr>
                    <a:solidFill>
                      <a:srgbClr val="FFFF00"/>
                    </a:solidFill>
                  </a:tcPr>
                </a:tc>
                <a:tc>
                  <a:txBody>
                    <a:bodyPr/>
                    <a:lstStyle/>
                    <a:p>
                      <a:pPr algn="ctr">
                        <a:buNone/>
                      </a:pPr>
                      <a:r>
                        <a:rPr lang="en-US" sz="1300" dirty="0">
                          <a:latin typeface="Times New Roman" pitchFamily="18" charset="0"/>
                          <a:cs typeface="Times New Roman" pitchFamily="18" charset="0"/>
                        </a:rPr>
                        <a:t>Methodology</a:t>
                      </a:r>
                    </a:p>
                  </a:txBody>
                  <a:tcPr>
                    <a:solidFill>
                      <a:srgbClr val="FFFF00"/>
                    </a:solidFill>
                  </a:tcPr>
                </a:tc>
                <a:tc>
                  <a:txBody>
                    <a:bodyPr/>
                    <a:lstStyle/>
                    <a:p>
                      <a:pPr algn="ctr">
                        <a:buNone/>
                      </a:pPr>
                      <a:r>
                        <a:rPr lang="en-US" sz="1300" dirty="0">
                          <a:latin typeface="Times New Roman" pitchFamily="18" charset="0"/>
                          <a:cs typeface="Times New Roman" pitchFamily="18" charset="0"/>
                        </a:rPr>
                        <a:t>Inferences</a:t>
                      </a:r>
                    </a:p>
                  </a:txBody>
                  <a:tcPr>
                    <a:solidFill>
                      <a:srgbClr val="FFFF00"/>
                    </a:solidFill>
                  </a:tcPr>
                </a:tc>
                <a:tc>
                  <a:txBody>
                    <a:bodyPr/>
                    <a:lstStyle/>
                    <a:p>
                      <a:pPr algn="ctr">
                        <a:buNone/>
                      </a:pPr>
                      <a:r>
                        <a:rPr lang="en-US" sz="1300" dirty="0">
                          <a:latin typeface="Times New Roman" pitchFamily="18" charset="0"/>
                          <a:cs typeface="Times New Roman" pitchFamily="18" charset="0"/>
                        </a:rPr>
                        <a:t>Limitation/Future work</a:t>
                      </a:r>
                    </a:p>
                  </a:txBody>
                  <a:tcPr>
                    <a:solidFill>
                      <a:srgbClr val="FFFF00"/>
                    </a:solidFill>
                  </a:tcPr>
                </a:tc>
                <a:extLst>
                  <a:ext uri="{0D108BD9-81ED-4DB2-BD59-A6C34878D82A}">
                    <a16:rowId xmlns:a16="http://schemas.microsoft.com/office/drawing/2014/main" val="10000"/>
                  </a:ext>
                </a:extLst>
              </a:tr>
              <a:tr h="0">
                <a:tc>
                  <a:txBody>
                    <a:bodyPr/>
                    <a:lstStyle/>
                    <a:p>
                      <a:pPr marL="0" lvl="0" algn="l" defTabSz="914400" rtl="0" eaLnBrk="1" latinLnBrk="0" hangingPunct="1"/>
                      <a:r>
                        <a:rPr lang="en-US" sz="1200" dirty="0" err="1">
                          <a:latin typeface="Times New Roman" panose="02020603050405020304" pitchFamily="18" charset="0"/>
                          <a:cs typeface="Times New Roman" panose="02020603050405020304" pitchFamily="18" charset="0"/>
                        </a:rPr>
                        <a:t>Ianire</a:t>
                      </a:r>
                      <a:r>
                        <a:rPr lang="en-US" sz="1200" dirty="0">
                          <a:latin typeface="Times New Roman" panose="02020603050405020304" pitchFamily="18" charset="0"/>
                          <a:cs typeface="Times New Roman" panose="02020603050405020304" pitchFamily="18" charset="0"/>
                        </a:rPr>
                        <a:t> Taboada, </a:t>
                      </a:r>
                      <a:r>
                        <a:rPr lang="en-US" sz="1200" dirty="0" err="1">
                          <a:latin typeface="Times New Roman" panose="02020603050405020304" pitchFamily="18" charset="0"/>
                          <a:cs typeface="Times New Roman" panose="02020603050405020304" pitchFamily="18" charset="0"/>
                        </a:rPr>
                        <a:t>Abouzar</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Daneshpajouh</a:t>
                      </a:r>
                      <a:r>
                        <a:rPr lang="en-US" sz="1200" dirty="0">
                          <a:latin typeface="Times New Roman" panose="02020603050405020304" pitchFamily="18" charset="0"/>
                          <a:cs typeface="Times New Roman" panose="02020603050405020304" pitchFamily="18" charset="0"/>
                        </a:rPr>
                        <a:t>, Nerea Toledo, Tharaka </a:t>
                      </a:r>
                      <a:r>
                        <a:rPr lang="en-US" sz="1200" dirty="0" err="1">
                          <a:latin typeface="Times New Roman" panose="02020603050405020304" pitchFamily="18" charset="0"/>
                          <a:cs typeface="Times New Roman" panose="02020603050405020304" pitchFamily="18" charset="0"/>
                        </a:rPr>
                        <a:t>deVass</a:t>
                      </a:r>
                      <a:endParaRPr lang="en-IN" sz="1200" b="0" i="0" u="none" kern="1200" dirty="0">
                        <a:solidFill>
                          <a:schemeClr val="dk1"/>
                        </a:solidFill>
                        <a:effectLst/>
                        <a:latin typeface="Times New Roman" panose="02020603050405020304" pitchFamily="18" charset="0"/>
                        <a:ea typeface="+mn-ea"/>
                        <a:cs typeface="Times New Roman" panose="02020603050405020304" pitchFamily="18" charset="0"/>
                      </a:endParaRPr>
                    </a:p>
                  </a:txBody>
                  <a:tcPr anchor="ctr"/>
                </a:tc>
                <a:tc>
                  <a:txBody>
                    <a:bodyPr/>
                    <a:lstStyle/>
                    <a:p>
                      <a:r>
                        <a:rPr lang="en-US" sz="1300" b="1" dirty="0">
                          <a:latin typeface="Times New Roman" panose="02020603050405020304" pitchFamily="18" charset="0"/>
                          <a:cs typeface="Times New Roman" panose="02020603050405020304" pitchFamily="18" charset="0"/>
                        </a:rPr>
                        <a:t>Artificial Intelligence Enabled Project Management: A Systematic Literature Review</a:t>
                      </a:r>
                      <a:r>
                        <a:rPr lang="en-US" sz="1300" dirty="0">
                          <a:latin typeface="Times New Roman" panose="02020603050405020304" pitchFamily="18" charset="0"/>
                          <a:cs typeface="Times New Roman" panose="02020603050405020304" pitchFamily="18" charset="0"/>
                        </a:rPr>
                        <a:t> (2023)</a:t>
                      </a:r>
                      <a:endParaRPr lang="en-IN" sz="1300" b="1" i="0" u="none" kern="1200" dirty="0">
                        <a:solidFill>
                          <a:schemeClr val="tx1"/>
                        </a:solidFill>
                        <a:effectLst/>
                        <a:latin typeface="Times New Roman" panose="02020603050405020304" pitchFamily="18" charset="0"/>
                        <a:ea typeface="+mn-ea"/>
                        <a:cs typeface="Times New Roman" panose="02020603050405020304" pitchFamily="18" charset="0"/>
                      </a:endParaRPr>
                    </a:p>
                  </a:txBody>
                  <a:tcPr/>
                </a:tc>
                <a:tc>
                  <a:txBody>
                    <a:bodyPr/>
                    <a:lstStyle/>
                    <a:p>
                      <a:pPr marL="0" marR="0" indent="0" algn="l" defTabSz="914400" rtl="0" eaLnBrk="1" latinLnBrk="0" hangingPunct="1">
                        <a:lnSpc>
                          <a:spcPct val="100000"/>
                        </a:lnSpc>
                        <a:spcBef>
                          <a:spcPts val="0"/>
                        </a:spcBef>
                        <a:spcAft>
                          <a:spcPts val="0"/>
                        </a:spcAft>
                        <a:buClr>
                          <a:srgbClr val="000000"/>
                        </a:buClr>
                        <a:buFont typeface="Arial" panose="020B0604020202020204" pitchFamily="34" charset="0"/>
                        <a:buNone/>
                      </a:pPr>
                      <a:r>
                        <a:rPr lang="en-US" sz="1300" dirty="0">
                          <a:latin typeface="Times New Roman" panose="02020603050405020304" pitchFamily="18" charset="0"/>
                          <a:cs typeface="Times New Roman" panose="02020603050405020304" pitchFamily="18" charset="0"/>
                        </a:rPr>
                        <a:t>Systematic Literature Review (SLR) analyzing AI applications in project-management performance domains. </a:t>
                      </a:r>
                      <a:endParaRPr lang="en-US" sz="1300" b="0" i="0" u="none" kern="1200" dirty="0">
                        <a:solidFill>
                          <a:schemeClr val="dk1"/>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0" marR="0" indent="0" algn="l" defTabSz="914400" rtl="0" eaLnBrk="1" latinLnBrk="0" hangingPunct="1">
                        <a:lnSpc>
                          <a:spcPct val="100000"/>
                        </a:lnSpc>
                        <a:spcBef>
                          <a:spcPts val="0"/>
                        </a:spcBef>
                        <a:spcAft>
                          <a:spcPts val="0"/>
                        </a:spcAft>
                        <a:buClr>
                          <a:srgbClr val="000000"/>
                        </a:buClr>
                        <a:buFont typeface="Arial" panose="020B0604020202020204" pitchFamily="34" charset="0"/>
                        <a:buNone/>
                      </a:pPr>
                      <a:r>
                        <a:rPr lang="en-US" sz="1300" b="0" dirty="0">
                          <a:latin typeface="Times New Roman" panose="02020603050405020304" pitchFamily="18" charset="0"/>
                          <a:cs typeface="Times New Roman" panose="02020603050405020304" pitchFamily="18" charset="0"/>
                        </a:rPr>
                        <a:t>AI, particularly ML, can support planning, forecasting, decision-making, and project performance, making it highly relevant to automated project monitoring. </a:t>
                      </a:r>
                      <a:endParaRPr lang="en-US" sz="1300" b="0" i="0" u="none" kern="1200" dirty="0">
                        <a:solidFill>
                          <a:schemeClr val="dk1"/>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0" indent="0" algn="l" defTabSz="914400" rtl="0" eaLnBrk="1" latinLnBrk="0" hangingPunct="1">
                        <a:buFont typeface="Arial" panose="020B0604020202020204" pitchFamily="34" charset="0"/>
                        <a:buNone/>
                      </a:pPr>
                      <a:r>
                        <a:rPr lang="en-US" sz="1300" dirty="0">
                          <a:latin typeface="Times New Roman" panose="02020603050405020304" pitchFamily="18" charset="0"/>
                          <a:cs typeface="Times New Roman" panose="02020603050405020304" pitchFamily="18" charset="0"/>
                        </a:rPr>
                        <a:t>More empirical studies and practical implementations are needed to validate AI-based project-management solutions in real-world environments.</a:t>
                      </a:r>
                      <a:endParaRPr lang="en-US" sz="1300" b="0" i="0" u="none" kern="1200" dirty="0">
                        <a:solidFill>
                          <a:schemeClr val="tx1"/>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2655426370"/>
                  </a:ext>
                </a:extLst>
              </a:tr>
              <a:tr h="886343">
                <a:tc>
                  <a:txBody>
                    <a:bodyPr/>
                    <a:lstStyle/>
                    <a:p>
                      <a:pPr marL="0" algn="l" defTabSz="914400" rtl="0" eaLnBrk="1" latinLnBrk="0" hangingPunct="1"/>
                      <a:r>
                        <a:rPr lang="en-US" sz="1300" dirty="0">
                          <a:latin typeface="Times New Roman" panose="02020603050405020304" pitchFamily="18" charset="0"/>
                          <a:cs typeface="Times New Roman" panose="02020603050405020304" pitchFamily="18" charset="0"/>
                        </a:rPr>
                        <a:t>Maciej </a:t>
                      </a:r>
                      <a:r>
                        <a:rPr lang="en-US" sz="1300" dirty="0" err="1">
                          <a:latin typeface="Times New Roman" panose="02020603050405020304" pitchFamily="18" charset="0"/>
                          <a:cs typeface="Times New Roman" panose="02020603050405020304" pitchFamily="18" charset="0"/>
                        </a:rPr>
                        <a:t>Koszykowski</a:t>
                      </a:r>
                      <a:r>
                        <a:rPr lang="en-US" sz="1300" dirty="0">
                          <a:latin typeface="Times New Roman" panose="02020603050405020304" pitchFamily="18" charset="0"/>
                          <a:cs typeface="Times New Roman" panose="02020603050405020304" pitchFamily="18" charset="0"/>
                        </a:rPr>
                        <a:t>, Witold </a:t>
                      </a:r>
                      <a:r>
                        <a:rPr lang="en-US" sz="1300" dirty="0" err="1">
                          <a:latin typeface="Times New Roman" panose="02020603050405020304" pitchFamily="18" charset="0"/>
                          <a:cs typeface="Times New Roman" panose="02020603050405020304" pitchFamily="18" charset="0"/>
                        </a:rPr>
                        <a:t>Orzeszko</a:t>
                      </a:r>
                      <a:endParaRPr lang="en-IN" sz="1300" b="1" i="0" u="none"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r>
                        <a:rPr lang="en-US" sz="1300" b="1" dirty="0">
                          <a:latin typeface="Times New Roman" panose="02020603050405020304" pitchFamily="18" charset="0"/>
                          <a:cs typeface="Times New Roman" panose="02020603050405020304" pitchFamily="18" charset="0"/>
                        </a:rPr>
                        <a:t>Machine Learning in Project Schedule Creation: A Systematic Literature Review</a:t>
                      </a:r>
                      <a:r>
                        <a:rPr lang="en-US" sz="1300" dirty="0">
                          <a:latin typeface="Times New Roman" panose="02020603050405020304" pitchFamily="18" charset="0"/>
                          <a:cs typeface="Times New Roman" panose="02020603050405020304" pitchFamily="18" charset="0"/>
                        </a:rPr>
                        <a:t> (2026)</a:t>
                      </a:r>
                      <a:endParaRPr lang="en-IN" sz="1300" b="1" i="0" u="none" kern="1200" dirty="0">
                        <a:solidFill>
                          <a:schemeClr val="tx1"/>
                        </a:solidFill>
                        <a:effectLst/>
                        <a:latin typeface="Times New Roman" panose="02020603050405020304" pitchFamily="18" charset="0"/>
                        <a:ea typeface="+mn-ea"/>
                        <a:cs typeface="Times New Roman" panose="02020603050405020304" pitchFamily="18" charset="0"/>
                      </a:endParaRPr>
                    </a:p>
                  </a:txBody>
                  <a:tcPr/>
                </a:tc>
                <a:tc>
                  <a:txBody>
                    <a:bodyPr/>
                    <a:lstStyle/>
                    <a:p>
                      <a:pPr marL="0" marR="0" indent="0" algn="l" defTabSz="914400" rtl="0" eaLnBrk="1" latinLnBrk="0" hangingPunct="1">
                        <a:lnSpc>
                          <a:spcPct val="100000"/>
                        </a:lnSpc>
                        <a:spcBef>
                          <a:spcPts val="0"/>
                        </a:spcBef>
                        <a:spcAft>
                          <a:spcPts val="0"/>
                        </a:spcAft>
                        <a:buClr>
                          <a:srgbClr val="000000"/>
                        </a:buClr>
                        <a:buFont typeface="Arial" panose="020B0604020202020204" pitchFamily="34" charset="0"/>
                        <a:buNone/>
                      </a:pPr>
                      <a:r>
                        <a:rPr lang="en-US" sz="1300" b="0" dirty="0">
                          <a:latin typeface="Times New Roman" panose="02020603050405020304" pitchFamily="18" charset="0"/>
                          <a:cs typeface="Times New Roman" panose="02020603050405020304" pitchFamily="18" charset="0"/>
                        </a:rPr>
                        <a:t>Systematic review of ML techniques used for project schedule creation and management.</a:t>
                      </a:r>
                      <a:endParaRPr lang="en-US" sz="1300" b="0" u="none" kern="1200" dirty="0">
                        <a:solidFill>
                          <a:schemeClr val="dk1"/>
                        </a:solidFill>
                        <a:effectLst/>
                        <a:latin typeface="Times New Roman" panose="02020603050405020304" pitchFamily="18" charset="0"/>
                        <a:cs typeface="Times New Roman" panose="02020603050405020304" pitchFamily="18" charset="0"/>
                      </a:endParaRPr>
                    </a:p>
                  </a:txBody>
                  <a:tcPr/>
                </a:tc>
                <a:tc>
                  <a:txBody>
                    <a:bodyPr/>
                    <a:lstStyle/>
                    <a:p>
                      <a:pPr marL="0" marR="0" indent="0" algn="l" defTabSz="914400" rtl="0" eaLnBrk="1" latinLnBrk="0" hangingPunct="1">
                        <a:lnSpc>
                          <a:spcPct val="100000"/>
                        </a:lnSpc>
                        <a:spcBef>
                          <a:spcPts val="0"/>
                        </a:spcBef>
                        <a:spcAft>
                          <a:spcPts val="0"/>
                        </a:spcAft>
                        <a:buClr>
                          <a:srgbClr val="000000"/>
                        </a:buClr>
                        <a:buFont typeface="Arial" panose="020B0604020202020204" pitchFamily="34" charset="0"/>
                        <a:buNone/>
                      </a:pPr>
                      <a:r>
                        <a:rPr lang="en-US" sz="1300" b="0" dirty="0">
                          <a:latin typeface="Times New Roman" panose="02020603050405020304" pitchFamily="18" charset="0"/>
                          <a:cs typeface="Times New Roman" panose="02020603050405020304" pitchFamily="18" charset="0"/>
                        </a:rPr>
                        <a:t>ML has strong potential for automated scheduling, which supports your project's deadline monitoring, task prioritization, and prediction features.</a:t>
                      </a:r>
                      <a:endParaRPr lang="en-US" sz="1300" b="0" i="0" u="none" kern="1200" dirty="0">
                        <a:solidFill>
                          <a:schemeClr val="dk1"/>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0" indent="0" algn="l" defTabSz="914400" rtl="0" eaLnBrk="1" latinLnBrk="0" hangingPunct="1">
                        <a:buFont typeface="Arial" panose="020B0604020202020204" pitchFamily="34" charset="0"/>
                        <a:buNone/>
                      </a:pPr>
                      <a:r>
                        <a:rPr lang="en-US" sz="1300" dirty="0">
                          <a:latin typeface="Times New Roman" panose="02020603050405020304" pitchFamily="18" charset="0"/>
                          <a:cs typeface="Times New Roman" panose="02020603050405020304" pitchFamily="18" charset="0"/>
                        </a:rPr>
                        <a:t>ML adoption in project scheduling is still limited; further research is needed to demonstrate its effectiveness with real project data.</a:t>
                      </a:r>
                      <a:endParaRPr lang="en-US" sz="1300" b="1" i="0" u="none" kern="1200" dirty="0">
                        <a:solidFill>
                          <a:schemeClr val="tx1"/>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2841575018"/>
                  </a:ext>
                </a:extLst>
              </a:tr>
              <a:tr h="863659">
                <a:tc>
                  <a:txBody>
                    <a:bodyPr/>
                    <a:lstStyle/>
                    <a:p>
                      <a:pPr marL="0" algn="l" defTabSz="914400" rtl="0" eaLnBrk="1" latinLnBrk="0" hangingPunct="1"/>
                      <a:r>
                        <a:rPr lang="en-US" sz="1300" dirty="0">
                          <a:latin typeface="Times New Roman" panose="02020603050405020304" pitchFamily="18" charset="0"/>
                          <a:cs typeface="Times New Roman" panose="02020603050405020304" pitchFamily="18" charset="0"/>
                        </a:rPr>
                        <a:t>Mohamad Abou Ali, Fadi </a:t>
                      </a:r>
                      <a:r>
                        <a:rPr lang="en-US" sz="1300" dirty="0" err="1">
                          <a:latin typeface="Times New Roman" panose="02020603050405020304" pitchFamily="18" charset="0"/>
                          <a:cs typeface="Times New Roman" panose="02020603050405020304" pitchFamily="18" charset="0"/>
                        </a:rPr>
                        <a:t>Dornaika</a:t>
                      </a:r>
                      <a:r>
                        <a:rPr lang="en-US" sz="1300" dirty="0">
                          <a:latin typeface="Times New Roman" panose="02020603050405020304" pitchFamily="18" charset="0"/>
                          <a:cs typeface="Times New Roman" panose="02020603050405020304" pitchFamily="18" charset="0"/>
                        </a:rPr>
                        <a:t>, Jinan </a:t>
                      </a:r>
                      <a:r>
                        <a:rPr lang="en-US" sz="1300" dirty="0" err="1">
                          <a:latin typeface="Times New Roman" panose="02020603050405020304" pitchFamily="18" charset="0"/>
                          <a:cs typeface="Times New Roman" panose="02020603050405020304" pitchFamily="18" charset="0"/>
                        </a:rPr>
                        <a:t>Charafeddine</a:t>
                      </a:r>
                      <a:endParaRPr lang="en-IN" sz="1300" b="1" i="0" u="none"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r>
                        <a:rPr lang="en-US" sz="1300" b="1" dirty="0">
                          <a:latin typeface="Times New Roman" panose="02020603050405020304" pitchFamily="18" charset="0"/>
                          <a:cs typeface="Times New Roman" panose="02020603050405020304" pitchFamily="18" charset="0"/>
                        </a:rPr>
                        <a:t>Agentic AI: A Comprehensive Survey of Architectures, Applications, and Future Directions</a:t>
                      </a:r>
                      <a:r>
                        <a:rPr lang="en-US" sz="1300" dirty="0">
                          <a:latin typeface="Times New Roman" panose="02020603050405020304" pitchFamily="18" charset="0"/>
                          <a:cs typeface="Times New Roman" panose="02020603050405020304" pitchFamily="18" charset="0"/>
                        </a:rPr>
                        <a:t> (2026)</a:t>
                      </a:r>
                      <a:endParaRPr lang="en-IN" sz="1300" b="1" i="0" u="none" kern="1200" dirty="0">
                        <a:solidFill>
                          <a:schemeClr val="tx1"/>
                        </a:solidFill>
                        <a:effectLst/>
                        <a:latin typeface="Times New Roman" panose="02020603050405020304" pitchFamily="18" charset="0"/>
                        <a:ea typeface="+mn-ea"/>
                        <a:cs typeface="Times New Roman" panose="02020603050405020304" pitchFamily="18" charset="0"/>
                      </a:endParaRPr>
                    </a:p>
                  </a:txBody>
                  <a:tcPr/>
                </a:tc>
                <a:tc>
                  <a:txBody>
                    <a:bodyPr/>
                    <a:lstStyle/>
                    <a:p>
                      <a:pPr marL="0" marR="0" indent="0" algn="l" defTabSz="914400" rtl="0" eaLnBrk="1" latinLnBrk="0" hangingPunct="1">
                        <a:lnSpc>
                          <a:spcPct val="100000"/>
                        </a:lnSpc>
                        <a:spcBef>
                          <a:spcPts val="0"/>
                        </a:spcBef>
                        <a:spcAft>
                          <a:spcPts val="0"/>
                        </a:spcAft>
                        <a:buClr>
                          <a:srgbClr val="000000"/>
                        </a:buClr>
                        <a:buFont typeface="Arial" panose="020B0604020202020204" pitchFamily="34" charset="0"/>
                        <a:buNone/>
                      </a:pPr>
                      <a:r>
                        <a:rPr lang="en-US" sz="1300" b="0" dirty="0">
                          <a:latin typeface="Times New Roman" panose="02020603050405020304" pitchFamily="18" charset="0"/>
                          <a:cs typeface="Times New Roman" panose="02020603050405020304" pitchFamily="18" charset="0"/>
                        </a:rPr>
                        <a:t>Comprehensive survey of Agentic AI architectures, applications, capabilities, and future directions.</a:t>
                      </a:r>
                      <a:endParaRPr lang="en-US" sz="1300" b="0" u="none" kern="1200" dirty="0">
                        <a:solidFill>
                          <a:schemeClr val="dk1"/>
                        </a:solidFill>
                        <a:effectLst/>
                        <a:latin typeface="Times New Roman" panose="02020603050405020304" pitchFamily="18" charset="0"/>
                        <a:cs typeface="Times New Roman" panose="02020603050405020304" pitchFamily="18" charset="0"/>
                      </a:endParaRPr>
                    </a:p>
                  </a:txBody>
                  <a:tcPr/>
                </a:tc>
                <a:tc>
                  <a:txBody>
                    <a:bodyPr/>
                    <a:lstStyle/>
                    <a:p>
                      <a:pPr marL="0" marR="0" indent="0" algn="l" defTabSz="914400" rtl="0" eaLnBrk="1" latinLnBrk="0" hangingPunct="1">
                        <a:lnSpc>
                          <a:spcPct val="100000"/>
                        </a:lnSpc>
                        <a:spcBef>
                          <a:spcPts val="0"/>
                        </a:spcBef>
                        <a:spcAft>
                          <a:spcPts val="0"/>
                        </a:spcAft>
                        <a:buClr>
                          <a:srgbClr val="000000"/>
                        </a:buClr>
                        <a:buFont typeface="Arial" panose="020B0604020202020204" pitchFamily="34" charset="0"/>
                        <a:buNone/>
                      </a:pPr>
                      <a:r>
                        <a:rPr lang="en-US" sz="1300" b="0" dirty="0">
                          <a:latin typeface="Times New Roman" panose="02020603050405020304" pitchFamily="18" charset="0"/>
                          <a:cs typeface="Times New Roman" panose="02020603050405020304" pitchFamily="18" charset="0"/>
                        </a:rPr>
                        <a:t>Provides a foundation for developing an AI Agent capable of reasoning, planning, and taking actions, which directly supports the intelligent-agent component of your system.</a:t>
                      </a:r>
                      <a:endParaRPr lang="en-US" sz="1300" b="0" i="0" u="none" kern="1200" dirty="0">
                        <a:solidFill>
                          <a:schemeClr val="dk1"/>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0" indent="0" algn="l" defTabSz="914400" rtl="0" eaLnBrk="1" latinLnBrk="0" hangingPunct="1">
                        <a:buFont typeface="Arial" panose="020B0604020202020204" pitchFamily="34" charset="0"/>
                        <a:buNone/>
                      </a:pPr>
                      <a:r>
                        <a:rPr lang="en-US" sz="1300" dirty="0">
                          <a:latin typeface="Times New Roman" panose="02020603050405020304" pitchFamily="18" charset="0"/>
                          <a:cs typeface="Times New Roman" panose="02020603050405020304" pitchFamily="18" charset="0"/>
                        </a:rPr>
                        <a:t>Agentic AI is rapidly evolving, so issues such as reliability, evaluation, safety, and real-world deployment require further research.</a:t>
                      </a:r>
                      <a:endParaRPr lang="en-US" sz="1300" b="1" i="0" u="none" kern="1200" dirty="0">
                        <a:solidFill>
                          <a:schemeClr val="tx1"/>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3571850503"/>
                  </a:ext>
                </a:extLst>
              </a:tr>
              <a:tr h="1097737">
                <a:tc>
                  <a:txBody>
                    <a:bodyPr/>
                    <a:lstStyle/>
                    <a:p>
                      <a:pPr marL="0" algn="l" defTabSz="914400" rtl="0" eaLnBrk="1" latinLnBrk="0" hangingPunct="1"/>
                      <a:r>
                        <a:rPr lang="en-US" sz="1300" dirty="0">
                          <a:latin typeface="Times New Roman" panose="02020603050405020304" pitchFamily="18" charset="0"/>
                          <a:cs typeface="Times New Roman" panose="02020603050405020304" pitchFamily="18" charset="0"/>
                        </a:rPr>
                        <a:t>Mehmet Söylemez, Bedir </a:t>
                      </a:r>
                      <a:r>
                        <a:rPr lang="en-US" sz="1300" dirty="0" err="1">
                          <a:latin typeface="Times New Roman" panose="02020603050405020304" pitchFamily="18" charset="0"/>
                          <a:cs typeface="Times New Roman" panose="02020603050405020304" pitchFamily="18" charset="0"/>
                        </a:rPr>
                        <a:t>Tekinerdogan</a:t>
                      </a:r>
                      <a:r>
                        <a:rPr lang="en-US" sz="1300" dirty="0">
                          <a:latin typeface="Times New Roman" panose="02020603050405020304" pitchFamily="18" charset="0"/>
                          <a:cs typeface="Times New Roman" panose="02020603050405020304" pitchFamily="18" charset="0"/>
                        </a:rPr>
                        <a:t>, Ayça </a:t>
                      </a:r>
                      <a:r>
                        <a:rPr lang="en-US" sz="1300" dirty="0" err="1">
                          <a:latin typeface="Times New Roman" panose="02020603050405020304" pitchFamily="18" charset="0"/>
                          <a:cs typeface="Times New Roman" panose="02020603050405020304" pitchFamily="18" charset="0"/>
                        </a:rPr>
                        <a:t>Kolukısa</a:t>
                      </a:r>
                      <a:r>
                        <a:rPr lang="en-US" sz="1300" dirty="0">
                          <a:latin typeface="Times New Roman" panose="02020603050405020304" pitchFamily="18" charset="0"/>
                          <a:cs typeface="Times New Roman" panose="02020603050405020304" pitchFamily="18" charset="0"/>
                        </a:rPr>
                        <a:t> Tarhan</a:t>
                      </a:r>
                      <a:endParaRPr lang="en-IN" sz="1300" b="1" i="0" u="none"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r>
                        <a:rPr lang="en-US" sz="1300" b="1" dirty="0">
                          <a:latin typeface="Times New Roman" panose="02020603050405020304" pitchFamily="18" charset="0"/>
                          <a:cs typeface="Times New Roman" panose="02020603050405020304" pitchFamily="18" charset="0"/>
                        </a:rPr>
                        <a:t>Challenges and Solution Directions of Microservice Architectures: A Systematic Literature Review</a:t>
                      </a:r>
                      <a:r>
                        <a:rPr lang="en-US" sz="1300" dirty="0">
                          <a:latin typeface="Times New Roman" panose="02020603050405020304" pitchFamily="18" charset="0"/>
                          <a:cs typeface="Times New Roman" panose="02020603050405020304" pitchFamily="18" charset="0"/>
                        </a:rPr>
                        <a:t> (2022)</a:t>
                      </a:r>
                      <a:endParaRPr lang="en-IN" sz="1300" b="1" i="0" u="none" kern="1200" dirty="0">
                        <a:solidFill>
                          <a:schemeClr val="tx1"/>
                        </a:solidFill>
                        <a:effectLst/>
                        <a:latin typeface="Times New Roman" panose="02020603050405020304" pitchFamily="18" charset="0"/>
                        <a:ea typeface="+mn-ea"/>
                        <a:cs typeface="Times New Roman" panose="02020603050405020304" pitchFamily="18" charset="0"/>
                      </a:endParaRPr>
                    </a:p>
                  </a:txBody>
                  <a:tcPr/>
                </a:tc>
                <a:tc>
                  <a:txBody>
                    <a:bodyPr/>
                    <a:lstStyle/>
                    <a:p>
                      <a:pPr marL="0" marR="0" indent="0" algn="l" defTabSz="914400" rtl="0" eaLnBrk="1" latinLnBrk="0" hangingPunct="1">
                        <a:lnSpc>
                          <a:spcPct val="100000"/>
                        </a:lnSpc>
                        <a:spcBef>
                          <a:spcPts val="0"/>
                        </a:spcBef>
                        <a:spcAft>
                          <a:spcPts val="0"/>
                        </a:spcAft>
                        <a:buClr>
                          <a:srgbClr val="000000"/>
                        </a:buClr>
                        <a:buFont typeface="Arial" panose="020B0604020202020204" pitchFamily="34" charset="0"/>
                        <a:buNone/>
                      </a:pPr>
                      <a:r>
                        <a:rPr lang="en-US" sz="1300" dirty="0">
                          <a:latin typeface="Times New Roman" panose="02020603050405020304" pitchFamily="18" charset="0"/>
                          <a:cs typeface="Times New Roman" panose="02020603050405020304" pitchFamily="18" charset="0"/>
                        </a:rPr>
                        <a:t>SLR analyzing </a:t>
                      </a:r>
                      <a:r>
                        <a:rPr lang="en-US" sz="1300" b="1" dirty="0">
                          <a:latin typeface="Times New Roman" panose="02020603050405020304" pitchFamily="18" charset="0"/>
                          <a:cs typeface="Times New Roman" panose="02020603050405020304" pitchFamily="18" charset="0"/>
                        </a:rPr>
                        <a:t>3,842 studies</a:t>
                      </a:r>
                      <a:r>
                        <a:rPr lang="en-US" sz="1300" dirty="0">
                          <a:latin typeface="Times New Roman" panose="02020603050405020304" pitchFamily="18" charset="0"/>
                          <a:cs typeface="Times New Roman" panose="02020603050405020304" pitchFamily="18" charset="0"/>
                        </a:rPr>
                        <a:t>, with 85 selected primary studies on Microservice Architecture. </a:t>
                      </a:r>
                      <a:endParaRPr lang="en-US" sz="1300" b="0" u="none" kern="1200" dirty="0">
                        <a:solidFill>
                          <a:schemeClr val="dk1"/>
                        </a:solidFill>
                        <a:effectLst/>
                        <a:latin typeface="Times New Roman" panose="02020603050405020304" pitchFamily="18" charset="0"/>
                        <a:cs typeface="Times New Roman" panose="02020603050405020304" pitchFamily="18" charset="0"/>
                      </a:endParaRPr>
                    </a:p>
                  </a:txBody>
                  <a:tcPr/>
                </a:tc>
                <a:tc>
                  <a:txBody>
                    <a:bodyPr/>
                    <a:lstStyle/>
                    <a:p>
                      <a:pPr marL="0" marR="0" indent="0" algn="l" defTabSz="914400" rtl="0" eaLnBrk="1" latinLnBrk="0" hangingPunct="1">
                        <a:lnSpc>
                          <a:spcPct val="100000"/>
                        </a:lnSpc>
                        <a:spcBef>
                          <a:spcPts val="0"/>
                        </a:spcBef>
                        <a:spcAft>
                          <a:spcPts val="0"/>
                        </a:spcAft>
                        <a:buClr>
                          <a:srgbClr val="000000"/>
                        </a:buClr>
                        <a:buFont typeface="Arial" panose="020B0604020202020204" pitchFamily="34" charset="0"/>
                        <a:buNone/>
                      </a:pPr>
                      <a:r>
                        <a:rPr lang="en-US" sz="1300" b="0" dirty="0">
                          <a:latin typeface="Times New Roman" panose="02020603050405020304" pitchFamily="18" charset="0"/>
                          <a:cs typeface="Times New Roman" panose="02020603050405020304" pitchFamily="18" charset="0"/>
                        </a:rPr>
                        <a:t>Microservices provide modularity, flexibility, independent development, maintainability, and scalability, supporting your SOA/Microservices-based design. </a:t>
                      </a:r>
                      <a:endParaRPr lang="en-US" sz="1300" b="0" i="0" u="none" kern="1200" dirty="0">
                        <a:solidFill>
                          <a:schemeClr val="dk1"/>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0" indent="0" algn="l" defTabSz="914400" rtl="0" eaLnBrk="1" latinLnBrk="0" hangingPunct="1">
                        <a:buFont typeface="Arial" panose="020B0604020202020204" pitchFamily="34" charset="0"/>
                        <a:buNone/>
                      </a:pPr>
                      <a:r>
                        <a:rPr lang="en-US" sz="1300" dirty="0">
                          <a:latin typeface="Times New Roman" panose="02020603050405020304" pitchFamily="18" charset="0"/>
                          <a:cs typeface="Times New Roman" panose="02020603050405020304" pitchFamily="18" charset="0"/>
                        </a:rPr>
                        <a:t>Microservices introduce challenges in service identification, management, communication, and maintenance; future work should develop better solutions for these challenges.</a:t>
                      </a:r>
                      <a:endParaRPr lang="en-US" sz="1300" b="1" i="0" u="none" kern="1200" dirty="0">
                        <a:solidFill>
                          <a:schemeClr val="tx1"/>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2113170752"/>
                  </a:ext>
                </a:extLst>
              </a:tr>
              <a:tr h="1097737">
                <a:tc>
                  <a:txBody>
                    <a:bodyPr/>
                    <a:lstStyle/>
                    <a:p>
                      <a:pPr marL="0" algn="l" defTabSz="914400" rtl="0" eaLnBrk="1" latinLnBrk="0" hangingPunct="1"/>
                      <a:r>
                        <a:rPr lang="en-US" sz="1300" dirty="0"/>
                        <a:t>Gunnar Auth, Oliver Jokisch, Christian </a:t>
                      </a:r>
                      <a:r>
                        <a:rPr lang="en-US" sz="1300" dirty="0" err="1"/>
                        <a:t>Dürk</a:t>
                      </a:r>
                      <a:endParaRPr lang="en-IN" sz="1300" b="1" i="0" u="none"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r>
                        <a:rPr lang="en-US" sz="1300" b="1" dirty="0"/>
                        <a:t>Revisiting Automated Project Management in the Digital Age – A Survey of AI Approaches</a:t>
                      </a:r>
                      <a:r>
                        <a:rPr lang="en-US" sz="1300" dirty="0"/>
                        <a:t> (2019)</a:t>
                      </a:r>
                      <a:endParaRPr lang="en-IN" sz="1300" b="1" i="0" u="none" kern="1200" dirty="0">
                        <a:solidFill>
                          <a:schemeClr val="tx1"/>
                        </a:solidFill>
                        <a:effectLst/>
                        <a:latin typeface="Times New Roman" panose="02020603050405020304" pitchFamily="18" charset="0"/>
                        <a:ea typeface="+mn-ea"/>
                        <a:cs typeface="Times New Roman" panose="02020603050405020304" pitchFamily="18" charset="0"/>
                      </a:endParaRPr>
                    </a:p>
                  </a:txBody>
                  <a:tcPr/>
                </a:tc>
                <a:tc>
                  <a:txBody>
                    <a:bodyPr/>
                    <a:lstStyle/>
                    <a:p>
                      <a:pPr marL="0" marR="0" indent="0" algn="l" defTabSz="914400" rtl="0" eaLnBrk="1" latinLnBrk="0" hangingPunct="1">
                        <a:lnSpc>
                          <a:spcPct val="100000"/>
                        </a:lnSpc>
                        <a:spcBef>
                          <a:spcPts val="0"/>
                        </a:spcBef>
                        <a:spcAft>
                          <a:spcPts val="0"/>
                        </a:spcAft>
                        <a:buClr>
                          <a:srgbClr val="000000"/>
                        </a:buClr>
                        <a:buFont typeface="Arial" panose="020B0604020202020204" pitchFamily="34" charset="0"/>
                        <a:buNone/>
                      </a:pPr>
                      <a:r>
                        <a:rPr lang="en-US" sz="1300" dirty="0"/>
                        <a:t>Literature review combined with </a:t>
                      </a:r>
                      <a:r>
                        <a:rPr lang="en-US" sz="1300" b="1" dirty="0"/>
                        <a:t>real-world examples</a:t>
                      </a:r>
                      <a:r>
                        <a:rPr lang="en-US" sz="1300" dirty="0"/>
                        <a:t> to examine AI approaches for automating project-management activities.</a:t>
                      </a:r>
                      <a:endParaRPr lang="en-US" sz="1300" b="0" u="none" kern="1200" dirty="0">
                        <a:solidFill>
                          <a:schemeClr val="dk1"/>
                        </a:solidFill>
                        <a:effectLst/>
                        <a:latin typeface="Times New Roman" panose="02020603050405020304" pitchFamily="18" charset="0"/>
                        <a:cs typeface="Times New Roman" panose="02020603050405020304" pitchFamily="18" charset="0"/>
                      </a:endParaRPr>
                    </a:p>
                  </a:txBody>
                  <a:tcPr/>
                </a:tc>
                <a:tc>
                  <a:txBody>
                    <a:bodyPr/>
                    <a:lstStyle/>
                    <a:p>
                      <a:pPr marL="0" marR="0" indent="0" algn="l" defTabSz="914400" rtl="0" eaLnBrk="1" latinLnBrk="0" hangingPunct="1">
                        <a:lnSpc>
                          <a:spcPct val="100000"/>
                        </a:lnSpc>
                        <a:spcBef>
                          <a:spcPts val="0"/>
                        </a:spcBef>
                        <a:spcAft>
                          <a:spcPts val="0"/>
                        </a:spcAft>
                        <a:buClr>
                          <a:srgbClr val="000000"/>
                        </a:buClr>
                        <a:buFont typeface="Arial" panose="020B0604020202020204" pitchFamily="34" charset="0"/>
                        <a:buNone/>
                      </a:pPr>
                      <a:r>
                        <a:rPr lang="en-US" sz="1300" dirty="0"/>
                        <a:t>Shows that AI can automate project-management tasks and provide </a:t>
                      </a:r>
                      <a:r>
                        <a:rPr lang="en-US" sz="1300" b="1" dirty="0"/>
                        <a:t>cognitive assistance, automation, and decision support</a:t>
                      </a:r>
                      <a:r>
                        <a:rPr lang="en-US" sz="1300" dirty="0"/>
                        <a:t>, supporting the automation goal of your project.</a:t>
                      </a:r>
                      <a:endParaRPr lang="en-US" sz="1300" b="0" i="0" u="none" kern="1200" dirty="0">
                        <a:solidFill>
                          <a:schemeClr val="dk1"/>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0" indent="0" algn="l" defTabSz="914400" rtl="0" eaLnBrk="1" latinLnBrk="0" hangingPunct="1">
                        <a:buFont typeface="Arial" panose="020B0604020202020204" pitchFamily="34" charset="0"/>
                        <a:buNone/>
                      </a:pPr>
                      <a:r>
                        <a:rPr lang="en-US" sz="1300" dirty="0"/>
                        <a:t>Further development is needed to handle the complexity and uniqueness of individual projects and to improve practical AI-based automation.</a:t>
                      </a:r>
                      <a:endParaRPr lang="en-US" sz="1300" b="1" i="0" u="none" kern="1200" dirty="0">
                        <a:solidFill>
                          <a:schemeClr val="tx1"/>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2180178836"/>
                  </a:ext>
                </a:extLst>
              </a:tr>
            </a:tbl>
          </a:graphicData>
        </a:graphic>
      </p:graphicFrame>
      <p:sp>
        <p:nvSpPr>
          <p:cNvPr id="2" name="TextBox 1">
            <a:extLst>
              <a:ext uri="{FF2B5EF4-FFF2-40B4-BE49-F238E27FC236}">
                <a16:creationId xmlns:a16="http://schemas.microsoft.com/office/drawing/2014/main" id="{C48F0022-391A-4CFC-2851-87E76B37EAC2}"/>
              </a:ext>
            </a:extLst>
          </p:cNvPr>
          <p:cNvSpPr txBox="1"/>
          <p:nvPr/>
        </p:nvSpPr>
        <p:spPr>
          <a:xfrm>
            <a:off x="4560565" y="136525"/>
            <a:ext cx="3070868" cy="523220"/>
          </a:xfrm>
          <a:prstGeom prst="rect">
            <a:avLst/>
          </a:prstGeom>
          <a:noFill/>
        </p:spPr>
        <p:txBody>
          <a:bodyPr wrap="square" rtlCol="0">
            <a:spAutoFit/>
          </a:bodyPr>
          <a:lstStyle/>
          <a:p>
            <a:pPr algn="ctr"/>
            <a:r>
              <a:rPr lang="en-IN" sz="2800" b="1" dirty="0">
                <a:latin typeface="Times New Roman" panose="02020603050405020304" pitchFamily="18" charset="0"/>
                <a:ea typeface="Cambria"/>
                <a:cs typeface="Times New Roman" panose="02020603050405020304" pitchFamily="18" charset="0"/>
              </a:rPr>
              <a:t>Literature Survey</a:t>
            </a:r>
            <a:endParaRPr lang="en-IN" sz="2800" b="1" dirty="0">
              <a:latin typeface="Times New Roman" panose="02020603050405020304" pitchFamily="18" charset="0"/>
              <a:cs typeface="Times New Roman" panose="02020603050405020304" pitchFamily="18" charset="0"/>
            </a:endParaRPr>
          </a:p>
        </p:txBody>
      </p:sp>
      <p:sp>
        <p:nvSpPr>
          <p:cNvPr id="10" name="Slide Number Placeholder 9">
            <a:extLst>
              <a:ext uri="{FF2B5EF4-FFF2-40B4-BE49-F238E27FC236}">
                <a16:creationId xmlns:a16="http://schemas.microsoft.com/office/drawing/2014/main" id="{09784944-5437-9E89-7017-F3DB9CA914FA}"/>
              </a:ext>
            </a:extLst>
          </p:cNvPr>
          <p:cNvSpPr>
            <a:spLocks noGrp="1"/>
          </p:cNvSpPr>
          <p:nvPr>
            <p:ph type="sldNum" sz="quarter" idx="12"/>
          </p:nvPr>
        </p:nvSpPr>
        <p:spPr/>
        <p:txBody>
          <a:bodyPr/>
          <a:lstStyle/>
          <a:p>
            <a:fld id="{5A3A418F-4DEE-4BB1-940B-1145D135750E}" type="slidenum">
              <a:rPr lang="en-IN" smtClean="0"/>
              <a:t>5</a:t>
            </a:fld>
            <a:endParaRPr lang="en-IN"/>
          </a:p>
        </p:txBody>
      </p:sp>
      <p:pic>
        <p:nvPicPr>
          <p:cNvPr id="6" name="Picture 5">
            <a:extLst>
              <a:ext uri="{FF2B5EF4-FFF2-40B4-BE49-F238E27FC236}">
                <a16:creationId xmlns:a16="http://schemas.microsoft.com/office/drawing/2014/main" id="{CF3EBAEA-8DC6-8F54-F0D6-38F9643BD4B7}"/>
              </a:ext>
            </a:extLst>
          </p:cNvPr>
          <p:cNvPicPr>
            <a:picLocks noChangeAspect="1"/>
          </p:cNvPicPr>
          <p:nvPr/>
        </p:nvPicPr>
        <p:blipFill>
          <a:blip r:embed="rId3"/>
          <a:stretch>
            <a:fillRect/>
          </a:stretch>
        </p:blipFill>
        <p:spPr>
          <a:xfrm>
            <a:off x="10249380" y="0"/>
            <a:ext cx="1942620" cy="622550"/>
          </a:xfrm>
          <a:prstGeom prst="rect">
            <a:avLst/>
          </a:prstGeom>
        </p:spPr>
      </p:pic>
    </p:spTree>
    <p:extLst>
      <p:ext uri="{BB962C8B-B14F-4D97-AF65-F5344CB8AC3E}">
        <p14:creationId xmlns:p14="http://schemas.microsoft.com/office/powerpoint/2010/main" val="30292770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EF2FA-32F2-6715-843F-6ACC796D053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00062CA-E93E-DFB0-5A22-1412AB9A6752}"/>
              </a:ext>
            </a:extLst>
          </p:cNvPr>
          <p:cNvSpPr txBox="1"/>
          <p:nvPr/>
        </p:nvSpPr>
        <p:spPr>
          <a:xfrm>
            <a:off x="3048000" y="645332"/>
            <a:ext cx="6096000" cy="646331"/>
          </a:xfrm>
          <a:prstGeom prst="rect">
            <a:avLst/>
          </a:prstGeom>
          <a:noFill/>
        </p:spPr>
        <p:txBody>
          <a:bodyPr wrap="square">
            <a:spAutoFit/>
          </a:bodyPr>
          <a:lstStyle/>
          <a:p>
            <a:pPr algn="ctr"/>
            <a:r>
              <a:rPr lang="en-US" sz="3600" b="1" dirty="0">
                <a:latin typeface="Times New Roman" panose="02020603050405020304" pitchFamily="18" charset="0"/>
                <a:cs typeface="Times New Roman" panose="02020603050405020304" pitchFamily="18" charset="0"/>
              </a:rPr>
              <a:t>Problem Gap Identification</a:t>
            </a:r>
          </a:p>
        </p:txBody>
      </p:sp>
      <p:pic>
        <p:nvPicPr>
          <p:cNvPr id="3" name="Picture 2">
            <a:extLst>
              <a:ext uri="{FF2B5EF4-FFF2-40B4-BE49-F238E27FC236}">
                <a16:creationId xmlns:a16="http://schemas.microsoft.com/office/drawing/2014/main" id="{7777B92A-0C12-D39A-8847-98719E7B6FFF}"/>
              </a:ext>
            </a:extLst>
          </p:cNvPr>
          <p:cNvPicPr>
            <a:picLocks noChangeAspect="1"/>
          </p:cNvPicPr>
          <p:nvPr/>
        </p:nvPicPr>
        <p:blipFill>
          <a:blip r:embed="rId2"/>
          <a:stretch>
            <a:fillRect/>
          </a:stretch>
        </p:blipFill>
        <p:spPr>
          <a:xfrm>
            <a:off x="10249380" y="0"/>
            <a:ext cx="1942620" cy="622550"/>
          </a:xfrm>
          <a:prstGeom prst="rect">
            <a:avLst/>
          </a:prstGeom>
        </p:spPr>
      </p:pic>
      <p:sp>
        <p:nvSpPr>
          <p:cNvPr id="2" name="TextBox 1">
            <a:extLst>
              <a:ext uri="{FF2B5EF4-FFF2-40B4-BE49-F238E27FC236}">
                <a16:creationId xmlns:a16="http://schemas.microsoft.com/office/drawing/2014/main" id="{DAC3BCBB-116C-A104-6436-53A2AB99294F}"/>
              </a:ext>
            </a:extLst>
          </p:cNvPr>
          <p:cNvSpPr txBox="1"/>
          <p:nvPr/>
        </p:nvSpPr>
        <p:spPr>
          <a:xfrm>
            <a:off x="1469922" y="1750142"/>
            <a:ext cx="9252156" cy="4154984"/>
          </a:xfrm>
          <a:prstGeom prst="rect">
            <a:avLst/>
          </a:prstGeom>
          <a:noFill/>
        </p:spPr>
        <p:txBody>
          <a:bodyPr wrap="square" rtlCol="0">
            <a:spAutoFit/>
          </a:bodyPr>
          <a:lstStyle/>
          <a:p>
            <a:pPr marL="342900" lvl="0" indent="-342900" algn="just">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Existing project management systems mainly provide basic task, deadline, and progress tracking with limited intelligent automation. </a:t>
            </a:r>
          </a:p>
          <a:p>
            <a:pPr marL="342900" lvl="0" indent="-342900" algn="just">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Current AI-based approaches often focus on individual functions such as scheduling, prediction, or decision support rather than an integrated solution. </a:t>
            </a:r>
          </a:p>
          <a:p>
            <a:pPr marL="342900" lvl="0" indent="-342900" algn="just">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There is limited use of Agentic AI to continuously analyze project status and recommend the next best action. </a:t>
            </a:r>
          </a:p>
          <a:p>
            <a:pPr marL="342900" lvl="0" indent="-342900" algn="just">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Existing systems rarely detect at-risk tasks and predict potential project delays proactively. </a:t>
            </a:r>
          </a:p>
          <a:p>
            <a:pPr marL="342900" lvl="0" indent="-342900" algn="just">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Hence, there is a need for an AI-powered Student Project Tracking System that integrates automated monitoring, risk detection, task prioritization, and intelligent recommendations using SOA/Microservices architecture.</a:t>
            </a:r>
          </a:p>
          <a:p>
            <a:pPr marL="342900" indent="-342900" algn="just">
              <a:buFont typeface="Wingdings" panose="05000000000000000000" pitchFamily="2" charset="2"/>
              <a:buChar char="Ø"/>
            </a:pPr>
            <a:endParaRPr lang="en-US"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65876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C6D84-077B-7007-4B63-807557EC637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4387226-F29E-0041-5581-4EF07C7198F1}"/>
              </a:ext>
            </a:extLst>
          </p:cNvPr>
          <p:cNvSpPr txBox="1"/>
          <p:nvPr/>
        </p:nvSpPr>
        <p:spPr>
          <a:xfrm>
            <a:off x="1893060" y="567351"/>
            <a:ext cx="8405879" cy="646331"/>
          </a:xfrm>
          <a:prstGeom prst="rect">
            <a:avLst/>
          </a:prstGeom>
          <a:noFill/>
        </p:spPr>
        <p:txBody>
          <a:bodyPr wrap="square">
            <a:spAutoFit/>
          </a:bodyPr>
          <a:lstStyle/>
          <a:p>
            <a:pPr algn="ctr"/>
            <a:r>
              <a:rPr lang="en-US" sz="3600" b="1" dirty="0">
                <a:latin typeface="Times New Roman" panose="02020603050405020304" pitchFamily="18" charset="0"/>
                <a:cs typeface="Times New Roman" panose="02020603050405020304" pitchFamily="18" charset="0"/>
              </a:rPr>
              <a:t>Innovation, Creativity, and Novelty</a:t>
            </a:r>
          </a:p>
        </p:txBody>
      </p:sp>
      <p:pic>
        <p:nvPicPr>
          <p:cNvPr id="3" name="Picture 2">
            <a:extLst>
              <a:ext uri="{FF2B5EF4-FFF2-40B4-BE49-F238E27FC236}">
                <a16:creationId xmlns:a16="http://schemas.microsoft.com/office/drawing/2014/main" id="{1BC5F926-1E4C-4031-B9E9-6A17F126A332}"/>
              </a:ext>
            </a:extLst>
          </p:cNvPr>
          <p:cNvPicPr>
            <a:picLocks noChangeAspect="1"/>
          </p:cNvPicPr>
          <p:nvPr/>
        </p:nvPicPr>
        <p:blipFill>
          <a:blip r:embed="rId2"/>
          <a:stretch>
            <a:fillRect/>
          </a:stretch>
        </p:blipFill>
        <p:spPr>
          <a:xfrm>
            <a:off x="10249380" y="0"/>
            <a:ext cx="1942620" cy="622550"/>
          </a:xfrm>
          <a:prstGeom prst="rect">
            <a:avLst/>
          </a:prstGeom>
        </p:spPr>
      </p:pic>
      <p:sp>
        <p:nvSpPr>
          <p:cNvPr id="2" name="TextBox 1">
            <a:extLst>
              <a:ext uri="{FF2B5EF4-FFF2-40B4-BE49-F238E27FC236}">
                <a16:creationId xmlns:a16="http://schemas.microsoft.com/office/drawing/2014/main" id="{A12FC364-3789-DC2F-34A9-868C95D6BAE4}"/>
              </a:ext>
            </a:extLst>
          </p:cNvPr>
          <p:cNvSpPr txBox="1"/>
          <p:nvPr/>
        </p:nvSpPr>
        <p:spPr>
          <a:xfrm>
            <a:off x="973394" y="1458557"/>
            <a:ext cx="9979741" cy="4832092"/>
          </a:xfrm>
          <a:prstGeom prst="rect">
            <a:avLst/>
          </a:prstGeom>
          <a:noFill/>
        </p:spPr>
        <p:txBody>
          <a:bodyPr wrap="square" rtlCol="0">
            <a:spAutoFit/>
          </a:bodyPr>
          <a:lstStyle/>
          <a:p>
            <a:pPr algn="just"/>
            <a:r>
              <a:rPr lang="en-US" sz="2200" b="1" dirty="0">
                <a:latin typeface="Times New Roman" panose="02020603050405020304" pitchFamily="18" charset="0"/>
                <a:cs typeface="Times New Roman" panose="02020603050405020304" pitchFamily="18" charset="0"/>
              </a:rPr>
              <a:t>Innovation</a:t>
            </a:r>
          </a:p>
          <a:p>
            <a:pPr algn="just"/>
            <a:r>
              <a:rPr lang="en-US" sz="2200" dirty="0">
                <a:latin typeface="Times New Roman" panose="02020603050405020304" pitchFamily="18" charset="0"/>
                <a:cs typeface="Times New Roman" panose="02020603050405020304" pitchFamily="18" charset="0"/>
              </a:rPr>
              <a:t>Our project innovatively combines Agentic AI with SOA/Microservices architecture to automate student project tracking, monitoring, and decision-making instead of relying only on manual updates.</a:t>
            </a:r>
          </a:p>
          <a:p>
            <a:pPr algn="just"/>
            <a:endParaRPr lang="en-US" sz="2200" dirty="0">
              <a:latin typeface="Times New Roman" panose="02020603050405020304" pitchFamily="18" charset="0"/>
              <a:cs typeface="Times New Roman" panose="02020603050405020304" pitchFamily="18" charset="0"/>
            </a:endParaRPr>
          </a:p>
          <a:p>
            <a:pPr algn="just"/>
            <a:r>
              <a:rPr lang="en-US" sz="2200" b="1" dirty="0">
                <a:latin typeface="Times New Roman" panose="02020603050405020304" pitchFamily="18" charset="0"/>
                <a:cs typeface="Times New Roman" panose="02020603050405020304" pitchFamily="18" charset="0"/>
              </a:rPr>
              <a:t>Creativity</a:t>
            </a:r>
          </a:p>
          <a:p>
            <a:pPr algn="just"/>
            <a:r>
              <a:rPr lang="en-US" sz="2200" dirty="0">
                <a:latin typeface="Times New Roman" panose="02020603050405020304" pitchFamily="18" charset="0"/>
                <a:cs typeface="Times New Roman" panose="02020603050405020304" pitchFamily="18" charset="0"/>
              </a:rPr>
              <a:t>The AI Agent creatively analyzes project progress, pending tasks, deadlines, and risks to prioritize tasks and recommend the next best action for the student.</a:t>
            </a:r>
          </a:p>
          <a:p>
            <a:pPr algn="just"/>
            <a:endParaRPr lang="en-US" sz="2200" dirty="0">
              <a:latin typeface="Times New Roman" panose="02020603050405020304" pitchFamily="18" charset="0"/>
              <a:cs typeface="Times New Roman" panose="02020603050405020304" pitchFamily="18" charset="0"/>
            </a:endParaRPr>
          </a:p>
          <a:p>
            <a:pPr algn="just"/>
            <a:r>
              <a:rPr lang="en-US" sz="2200" b="1" dirty="0">
                <a:latin typeface="Times New Roman" panose="02020603050405020304" pitchFamily="18" charset="0"/>
                <a:cs typeface="Times New Roman" panose="02020603050405020304" pitchFamily="18" charset="0"/>
              </a:rPr>
              <a:t>Novelty</a:t>
            </a:r>
          </a:p>
          <a:p>
            <a:pPr algn="just"/>
            <a:r>
              <a:rPr lang="en-US" sz="2200" dirty="0">
                <a:latin typeface="Times New Roman" panose="02020603050405020304" pitchFamily="18" charset="0"/>
                <a:cs typeface="Times New Roman" panose="02020603050405020304" pitchFamily="18" charset="0"/>
              </a:rPr>
              <a:t>The novelty lies in integrating risk detection, task prioritization, deadline awareness, and intelligent next-action recommendations into a single AI-powered system specifically designed for student project management.</a:t>
            </a:r>
          </a:p>
          <a:p>
            <a:pPr algn="just"/>
            <a:endParaRPr lang="en-US"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241353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8AA2CC-2C9A-D968-2F38-FFC4A7D2386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EF7CE10-08D9-83CF-7508-12575531E1E0}"/>
              </a:ext>
            </a:extLst>
          </p:cNvPr>
          <p:cNvSpPr txBox="1"/>
          <p:nvPr/>
        </p:nvSpPr>
        <p:spPr>
          <a:xfrm>
            <a:off x="2478993" y="541225"/>
            <a:ext cx="7234014" cy="646331"/>
          </a:xfrm>
          <a:prstGeom prst="rect">
            <a:avLst/>
          </a:prstGeom>
          <a:noFill/>
        </p:spPr>
        <p:txBody>
          <a:bodyPr wrap="square">
            <a:spAutoFit/>
          </a:bodyPr>
          <a:lstStyle/>
          <a:p>
            <a:pPr algn="ctr"/>
            <a:r>
              <a:rPr lang="en-US" sz="3600" b="1" dirty="0">
                <a:latin typeface="Times New Roman" panose="02020603050405020304" pitchFamily="18" charset="0"/>
                <a:cs typeface="Times New Roman" panose="02020603050405020304" pitchFamily="18" charset="0"/>
              </a:rPr>
              <a:t>Feasibility and Project Plan</a:t>
            </a:r>
          </a:p>
        </p:txBody>
      </p:sp>
      <p:pic>
        <p:nvPicPr>
          <p:cNvPr id="4" name="Picture 3">
            <a:extLst>
              <a:ext uri="{FF2B5EF4-FFF2-40B4-BE49-F238E27FC236}">
                <a16:creationId xmlns:a16="http://schemas.microsoft.com/office/drawing/2014/main" id="{F971D25F-D310-56FA-A58E-B7B79C7D857D}"/>
              </a:ext>
            </a:extLst>
          </p:cNvPr>
          <p:cNvPicPr>
            <a:picLocks noChangeAspect="1"/>
          </p:cNvPicPr>
          <p:nvPr/>
        </p:nvPicPr>
        <p:blipFill>
          <a:blip r:embed="rId2"/>
          <a:stretch>
            <a:fillRect/>
          </a:stretch>
        </p:blipFill>
        <p:spPr>
          <a:xfrm>
            <a:off x="10249380" y="0"/>
            <a:ext cx="1942620" cy="622550"/>
          </a:xfrm>
          <a:prstGeom prst="rect">
            <a:avLst/>
          </a:prstGeom>
        </p:spPr>
      </p:pic>
      <p:sp>
        <p:nvSpPr>
          <p:cNvPr id="3" name="TextBox 2">
            <a:extLst>
              <a:ext uri="{FF2B5EF4-FFF2-40B4-BE49-F238E27FC236}">
                <a16:creationId xmlns:a16="http://schemas.microsoft.com/office/drawing/2014/main" id="{90AAD4FA-DEA7-8189-555F-BD0035710F9D}"/>
              </a:ext>
            </a:extLst>
          </p:cNvPr>
          <p:cNvSpPr txBox="1"/>
          <p:nvPr/>
        </p:nvSpPr>
        <p:spPr>
          <a:xfrm>
            <a:off x="1458007" y="1356852"/>
            <a:ext cx="9079341" cy="4708981"/>
          </a:xfrm>
          <a:prstGeom prst="rect">
            <a:avLst/>
          </a:prstGeom>
          <a:noFill/>
        </p:spPr>
        <p:txBody>
          <a:bodyPr wrap="square" rtlCol="0">
            <a:spAutoFit/>
          </a:bodyPr>
          <a:lstStyle/>
          <a:p>
            <a:pPr lvl="0" algn="just"/>
            <a:r>
              <a:rPr lang="en-US" sz="2000" b="1" dirty="0">
                <a:latin typeface="Times New Roman" panose="02020603050405020304" pitchFamily="18" charset="0"/>
                <a:cs typeface="Times New Roman" panose="02020603050405020304" pitchFamily="18" charset="0"/>
              </a:rPr>
              <a:t>Technical Feasibility:</a:t>
            </a:r>
            <a:r>
              <a:rPr lang="en-US" sz="2000" dirty="0">
                <a:latin typeface="Times New Roman" panose="02020603050405020304" pitchFamily="18" charset="0"/>
                <a:cs typeface="Times New Roman" panose="02020603050405020304" pitchFamily="18" charset="0"/>
              </a:rPr>
              <a:t> </a:t>
            </a:r>
          </a:p>
          <a:p>
            <a:pPr lvl="0" algn="just"/>
            <a:r>
              <a:rPr lang="en-US" sz="2000" dirty="0">
                <a:latin typeface="Times New Roman" panose="02020603050405020304" pitchFamily="18" charset="0"/>
                <a:cs typeface="Times New Roman" panose="02020603050405020304" pitchFamily="18" charset="0"/>
              </a:rPr>
              <a:t>The system can be developed using Python, AI/LLM tools, REST APIs, and SOA/Microservices, which support modular and scalable implementation. </a:t>
            </a:r>
          </a:p>
          <a:p>
            <a:pPr lvl="0" algn="just"/>
            <a:endParaRPr lang="en-US" sz="2000" dirty="0">
              <a:latin typeface="Times New Roman" panose="02020603050405020304" pitchFamily="18" charset="0"/>
              <a:cs typeface="Times New Roman" panose="02020603050405020304" pitchFamily="18" charset="0"/>
            </a:endParaRPr>
          </a:p>
          <a:p>
            <a:pPr lvl="0" algn="just"/>
            <a:r>
              <a:rPr lang="en-US" sz="2000" b="1" dirty="0">
                <a:latin typeface="Times New Roman" panose="02020603050405020304" pitchFamily="18" charset="0"/>
                <a:cs typeface="Times New Roman" panose="02020603050405020304" pitchFamily="18" charset="0"/>
              </a:rPr>
              <a:t>Operational Feasibility:</a:t>
            </a:r>
            <a:r>
              <a:rPr lang="en-US" sz="2000" dirty="0">
                <a:latin typeface="Times New Roman" panose="02020603050405020304" pitchFamily="18" charset="0"/>
                <a:cs typeface="Times New Roman" panose="02020603050405020304" pitchFamily="18" charset="0"/>
              </a:rPr>
              <a:t> </a:t>
            </a:r>
          </a:p>
          <a:p>
            <a:pPr lvl="0" algn="just"/>
            <a:r>
              <a:rPr lang="en-US" sz="2000" dirty="0">
                <a:latin typeface="Times New Roman" panose="02020603050405020304" pitchFamily="18" charset="0"/>
                <a:cs typeface="Times New Roman" panose="02020603050405020304" pitchFamily="18" charset="0"/>
              </a:rPr>
              <a:t>Students and faculty can easily manage projects, tasks, deadlines, and progress, while the AI Agent provides automated insights. </a:t>
            </a:r>
          </a:p>
          <a:p>
            <a:pPr lvl="0" algn="just"/>
            <a:endParaRPr lang="en-US" sz="2000" dirty="0">
              <a:latin typeface="Times New Roman" panose="02020603050405020304" pitchFamily="18" charset="0"/>
              <a:cs typeface="Times New Roman" panose="02020603050405020304" pitchFamily="18" charset="0"/>
            </a:endParaRPr>
          </a:p>
          <a:p>
            <a:pPr lvl="0" algn="just"/>
            <a:r>
              <a:rPr lang="en-US" sz="2000" b="1" dirty="0">
                <a:latin typeface="Times New Roman" panose="02020603050405020304" pitchFamily="18" charset="0"/>
                <a:cs typeface="Times New Roman" panose="02020603050405020304" pitchFamily="18" charset="0"/>
              </a:rPr>
              <a:t>Economic Feasibility:</a:t>
            </a:r>
            <a:r>
              <a:rPr lang="en-US" sz="2000" dirty="0">
                <a:latin typeface="Times New Roman" panose="02020603050405020304" pitchFamily="18" charset="0"/>
                <a:cs typeface="Times New Roman" panose="02020603050405020304" pitchFamily="18" charset="0"/>
              </a:rPr>
              <a:t> </a:t>
            </a:r>
          </a:p>
          <a:p>
            <a:pPr lvl="0" algn="just"/>
            <a:r>
              <a:rPr lang="en-US" sz="2000" dirty="0">
                <a:latin typeface="Times New Roman" panose="02020603050405020304" pitchFamily="18" charset="0"/>
                <a:cs typeface="Times New Roman" panose="02020603050405020304" pitchFamily="18" charset="0"/>
              </a:rPr>
              <a:t>The project can rely mainly on open-source frameworks and tools, requiring minimal development cost. </a:t>
            </a:r>
          </a:p>
          <a:p>
            <a:pPr lvl="0" algn="just"/>
            <a:endParaRPr lang="en-US" sz="2000" dirty="0">
              <a:latin typeface="Times New Roman" panose="02020603050405020304" pitchFamily="18" charset="0"/>
              <a:cs typeface="Times New Roman" panose="02020603050405020304" pitchFamily="18" charset="0"/>
            </a:endParaRPr>
          </a:p>
          <a:p>
            <a:pPr lvl="0" algn="just"/>
            <a:r>
              <a:rPr lang="en-US" sz="2000" b="1" dirty="0">
                <a:latin typeface="Times New Roman" panose="02020603050405020304" pitchFamily="18" charset="0"/>
                <a:cs typeface="Times New Roman" panose="02020603050405020304" pitchFamily="18" charset="0"/>
              </a:rPr>
              <a:t>Implementation Feasibility:</a:t>
            </a:r>
            <a:r>
              <a:rPr lang="en-US" sz="2000" dirty="0">
                <a:latin typeface="Times New Roman" panose="02020603050405020304" pitchFamily="18" charset="0"/>
                <a:cs typeface="Times New Roman" panose="02020603050405020304" pitchFamily="18" charset="0"/>
              </a:rPr>
              <a:t> </a:t>
            </a:r>
          </a:p>
          <a:p>
            <a:pPr lvl="0" algn="just"/>
            <a:r>
              <a:rPr lang="en-US" sz="2000" dirty="0">
                <a:latin typeface="Times New Roman" panose="02020603050405020304" pitchFamily="18" charset="0"/>
                <a:cs typeface="Times New Roman" panose="02020603050405020304" pitchFamily="18" charset="0"/>
              </a:rPr>
              <a:t>The system can be developed incrementally, starting with basic project tracking and then integrating risk detection, task prioritization, and next-action recommendation. </a:t>
            </a:r>
          </a:p>
        </p:txBody>
      </p:sp>
    </p:spTree>
    <p:extLst>
      <p:ext uri="{BB962C8B-B14F-4D97-AF65-F5344CB8AC3E}">
        <p14:creationId xmlns:p14="http://schemas.microsoft.com/office/powerpoint/2010/main" val="41188552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F08F2-3FAE-FDBC-A685-3EEECAE9D9C4}"/>
              </a:ext>
            </a:extLst>
          </p:cNvPr>
          <p:cNvSpPr>
            <a:spLocks noGrp="1"/>
          </p:cNvSpPr>
          <p:nvPr>
            <p:ph type="title"/>
          </p:nvPr>
        </p:nvSpPr>
        <p:spPr>
          <a:xfrm>
            <a:off x="690716" y="217641"/>
            <a:ext cx="10515600" cy="883572"/>
          </a:xfrm>
        </p:spPr>
        <p:txBody>
          <a:bodyPr>
            <a:normAutofit/>
          </a:bodyPr>
          <a:lstStyle/>
          <a:p>
            <a:pPr algn="ctr"/>
            <a:r>
              <a:rPr lang="en-US" sz="3600" b="1" dirty="0">
                <a:latin typeface="Times New Roman" panose="02020603050405020304" pitchFamily="18" charset="0"/>
                <a:cs typeface="Times New Roman" panose="02020603050405020304" pitchFamily="18" charset="0"/>
              </a:rPr>
              <a:t>Project Plan Chart</a:t>
            </a:r>
          </a:p>
        </p:txBody>
      </p:sp>
      <p:pic>
        <p:nvPicPr>
          <p:cNvPr id="4" name="Picture 3">
            <a:extLst>
              <a:ext uri="{FF2B5EF4-FFF2-40B4-BE49-F238E27FC236}">
                <a16:creationId xmlns:a16="http://schemas.microsoft.com/office/drawing/2014/main" id="{38FB734B-2A64-A82A-2DEB-C959E75F2A5A}"/>
              </a:ext>
            </a:extLst>
          </p:cNvPr>
          <p:cNvPicPr>
            <a:picLocks noChangeAspect="1"/>
          </p:cNvPicPr>
          <p:nvPr/>
        </p:nvPicPr>
        <p:blipFill>
          <a:blip r:embed="rId2"/>
          <a:stretch>
            <a:fillRect/>
          </a:stretch>
        </p:blipFill>
        <p:spPr>
          <a:xfrm>
            <a:off x="1426469" y="1101213"/>
            <a:ext cx="9339061" cy="5098179"/>
          </a:xfrm>
          <a:prstGeom prst="rect">
            <a:avLst/>
          </a:prstGeom>
        </p:spPr>
      </p:pic>
    </p:spTree>
    <p:extLst>
      <p:ext uri="{BB962C8B-B14F-4D97-AF65-F5344CB8AC3E}">
        <p14:creationId xmlns:p14="http://schemas.microsoft.com/office/powerpoint/2010/main" val="12526162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128</TotalTime>
  <Words>1001</Words>
  <Application>Microsoft Office PowerPoint</Application>
  <PresentationFormat>Widescreen</PresentationFormat>
  <Paragraphs>115</Paragraphs>
  <Slides>9</Slides>
  <Notes>2</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9</vt:i4>
      </vt:variant>
    </vt:vector>
  </HeadingPairs>
  <TitlesOfParts>
    <vt:vector size="18" baseType="lpstr">
      <vt:lpstr>Aptos</vt:lpstr>
      <vt:lpstr>Aptos Display</vt:lpstr>
      <vt:lpstr>Arial</vt:lpstr>
      <vt:lpstr>Calibri</vt:lpstr>
      <vt:lpstr>Calibri Light</vt:lpstr>
      <vt:lpstr>Times New Roman</vt:lpstr>
      <vt:lpstr>Wingdings</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Project Plan Chart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srikanth ch</dc:creator>
  <cp:lastModifiedBy>Sharmila Pathi</cp:lastModifiedBy>
  <cp:revision>35</cp:revision>
  <dcterms:created xsi:type="dcterms:W3CDTF">2026-08-08T06:33:56Z</dcterms:created>
  <dcterms:modified xsi:type="dcterms:W3CDTF">2026-08-17T15:10:03Z</dcterms:modified>
</cp:coreProperties>
</file>