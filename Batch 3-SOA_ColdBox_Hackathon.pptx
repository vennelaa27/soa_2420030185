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95360" y="548640"/>
            <a:ext cx="1920240" cy="1920240"/>
          </a:xfrm>
          <a:prstGeom prst="roundRect">
            <a:avLst/>
          </a:prstGeom>
          <a:solidFill>
            <a:srgbClr val="17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66960" y="2011680"/>
            <a:ext cx="1371600" cy="1371600"/>
          </a:xfrm>
          <a:prstGeom prst="roundRect">
            <a:avLst/>
          </a:prstGeom>
          <a:solidFill>
            <a:srgbClr val="307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818120" y="2788920"/>
            <a:ext cx="2194560" cy="2194560"/>
          </a:xfrm>
          <a:prstGeom prst="roundRect">
            <a:avLst/>
          </a:prstGeom>
          <a:solidFill>
            <a:srgbClr val="17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149840" y="3977639"/>
            <a:ext cx="960120" cy="960120"/>
          </a:xfrm>
          <a:prstGeom prst="roundRect">
            <a:avLst/>
          </a:prstGeom>
          <a:solidFill>
            <a:srgbClr val="41C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15400" y="4892040"/>
            <a:ext cx="1143000" cy="1143000"/>
          </a:xfrm>
          <a:prstGeom prst="roundRect">
            <a:avLst/>
          </a:prstGeom>
          <a:solidFill>
            <a:srgbClr val="244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85800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41CDDA"/>
                </a:solidFill>
                <a:latin typeface="Aptos"/>
              </a:rPr>
              <a:t>HACKATHON PROJECT  /  SOA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371600"/>
            <a:ext cx="68580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"/>
              </a:rPr>
              <a:t>COLDBOX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331720"/>
            <a:ext cx="6675120" cy="1005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700" b="1">
                <a:solidFill>
                  <a:srgbClr val="D2E2F3"/>
                </a:solidFill>
                <a:latin typeface="Aptos"/>
              </a:rPr>
              <a:t>Cold-chain Exposure
Accounting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657600"/>
            <a:ext cx="6492240" cy="868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0">
                <a:solidFill>
                  <a:srgbClr val="AEC2D8"/>
                </a:solidFill>
                <a:latin typeface="Aptos"/>
              </a:rPr>
              <a:t>Track shipments. Monitor temperature. Calculate exposure.
Trigger an event-driven workflow when limits are exceeded.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" y="5029200"/>
            <a:ext cx="1627632" cy="365760"/>
          </a:xfrm>
          <a:prstGeom prst="roundRect">
            <a:avLst/>
          </a:prstGeom>
          <a:solidFill>
            <a:srgbClr val="172A46"/>
          </a:solidFill>
          <a:ln>
            <a:solidFill>
              <a:srgbClr val="307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5129784"/>
            <a:ext cx="1554480" cy="1554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MICROSERVICES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87752" y="5029200"/>
            <a:ext cx="1627632" cy="365760"/>
          </a:xfrm>
          <a:prstGeom prst="roundRect">
            <a:avLst/>
          </a:prstGeom>
          <a:solidFill>
            <a:srgbClr val="172A46"/>
          </a:solidFill>
          <a:ln>
            <a:solidFill>
              <a:srgbClr val="41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24328" y="5129784"/>
            <a:ext cx="1554480" cy="1554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KAFKA EVENTS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5029200"/>
            <a:ext cx="1627632" cy="365760"/>
          </a:xfrm>
          <a:prstGeom prst="roundRect">
            <a:avLst/>
          </a:prstGeom>
          <a:solidFill>
            <a:srgbClr val="172A46"/>
          </a:solidFill>
          <a:ln>
            <a:solidFill>
              <a:srgbClr val="22A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07408" y="5129784"/>
            <a:ext cx="1554480" cy="1554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JWT 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5989320"/>
            <a:ext cx="54864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96ADC6"/>
                </a:solidFill>
                <a:latin typeface="Aptos"/>
              </a:rPr>
              <a:t>Project demo • Synthetic cold-chain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9672"/>
            <a:ext cx="82296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A6B8CC"/>
                </a:solidFill>
                <a:latin typeface="Aptos"/>
              </a:rPr>
              <a:t>COLDBOX  •  COLD-CHAIN EXPOSURE ACCOUNTING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00" b="1">
                <a:solidFill>
                  <a:srgbClr val="A6B8CC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109728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3071EB"/>
                </a:solidFill>
                <a:latin typeface="Aptos"/>
              </a:rPr>
              <a:t>01 /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21792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0F1C32"/>
                </a:solidFill>
                <a:latin typeface="Aptos"/>
              </a:rPr>
              <a:t>The problem: cold-chain risk is hard to see in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61872"/>
            <a:ext cx="685800" cy="50292"/>
          </a:xfrm>
          <a:prstGeom prst="rect">
            <a:avLst/>
          </a:prstGeom>
          <a:solidFill>
            <a:srgbClr val="307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82296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66788E"/>
                </a:solidFill>
                <a:latin typeface="Aptos"/>
              </a:rPr>
              <a:t>COLDBOX  •  COLD-CHAIN EXPOSURE ACCOUNTING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00" b="1">
                <a:solidFill>
                  <a:srgbClr val="66788E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755648"/>
            <a:ext cx="50292" cy="1609344"/>
          </a:xfrm>
          <a:prstGeom prst="rect">
            <a:avLst/>
          </a:prstGeom>
          <a:solidFill>
            <a:srgbClr val="DB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92224"/>
            <a:ext cx="3172968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0F1C32"/>
                </a:solidFill>
                <a:latin typeface="Aptos"/>
              </a:rPr>
              <a:t>Temperature excursions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57984"/>
            <a:ext cx="3154680" cy="124358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66788E"/>
                </a:solidFill>
                <a:latin typeface="Aptos"/>
              </a:rPr>
              <a:t>A period outside the permitted range can compromise sensitive shipments.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4592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755648"/>
            <a:ext cx="50292" cy="1609344"/>
          </a:xfrm>
          <a:prstGeom prst="rect">
            <a:avLst/>
          </a:prstGeom>
          <a:solidFill>
            <a:srgbClr val="F09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792224"/>
            <a:ext cx="3172968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0F1C32"/>
                </a:solidFill>
                <a:latin typeface="Aptos"/>
              </a:rPr>
              <a:t>Fragmented visibility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157984"/>
            <a:ext cx="3154680" cy="124358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66788E"/>
                </a:solidFill>
                <a:latin typeface="Aptos"/>
              </a:rPr>
              <a:t>Shipment status, sensor readings and exposure decisions live in separate systems.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64592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1755648"/>
            <a:ext cx="50292" cy="1609344"/>
          </a:xfrm>
          <a:prstGeom prst="rect">
            <a:avLst/>
          </a:prstGeom>
          <a:solidFill>
            <a:srgbClr val="307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1792224"/>
            <a:ext cx="3172968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0F1C32"/>
                </a:solidFill>
                <a:latin typeface="Aptos"/>
              </a:rPr>
              <a:t>Slow response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157984"/>
            <a:ext cx="3154680" cy="124358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66788E"/>
                </a:solidFill>
                <a:latin typeface="Aptos"/>
              </a:rPr>
              <a:t>Without an event-driven path, teams may discover breaches too late.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977639"/>
            <a:ext cx="1060704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071EB"/>
                </a:solidFill>
                <a:latin typeface="Aptos"/>
              </a:rPr>
              <a:t>THE CORE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389120"/>
            <a:ext cx="10332720" cy="9601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0F1C32"/>
                </a:solidFill>
                <a:latin typeface="Aptos"/>
              </a:rPr>
              <a:t>How can we calculate cumulative exposure reliably and move a breach into a traceable workflow?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623560"/>
            <a:ext cx="10058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6788E"/>
                </a:solidFill>
                <a:latin typeface="Aptos"/>
              </a:rPr>
              <a:t>Design goal: one API entry point, separate domain services, persistent records and asynchronous event processing.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109728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3071EB"/>
                </a:solidFill>
                <a:latin typeface="Aptos"/>
              </a:rPr>
              <a:t>02 /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21792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0F1C32"/>
                </a:solidFill>
                <a:latin typeface="Aptos"/>
              </a:rPr>
              <a:t>Our solution: one workflow from shipment to response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61872"/>
            <a:ext cx="685800" cy="50292"/>
          </a:xfrm>
          <a:prstGeom prst="rect">
            <a:avLst/>
          </a:prstGeom>
          <a:solidFill>
            <a:srgbClr val="307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82296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66788E"/>
                </a:solidFill>
                <a:latin typeface="Aptos"/>
              </a:rPr>
              <a:t>COLDBOX  •  COLD-CHAIN EXPOSURE ACCOUNTING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00" b="1">
                <a:solidFill>
                  <a:srgbClr val="66788E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25603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938528"/>
            <a:ext cx="50292" cy="2066543"/>
          </a:xfrm>
          <a:prstGeom prst="rect">
            <a:avLst/>
          </a:prstGeom>
          <a:solidFill>
            <a:srgbClr val="307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75104"/>
            <a:ext cx="2212848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0F1C32"/>
                </a:solidFill>
                <a:latin typeface="Aptos"/>
              </a:rPr>
              <a:t>REGISTER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40864"/>
            <a:ext cx="2194560" cy="170078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66788E"/>
                </a:solidFill>
                <a:latin typeface="Aptos"/>
              </a:rPr>
              <a:t>Create a shipment with a permitted range and exposure budget.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1417320"/>
            <a:ext cx="475488" cy="475488"/>
          </a:xfrm>
          <a:prstGeom prst="ellipse">
            <a:avLst/>
          </a:prstGeom>
          <a:solidFill>
            <a:srgbClr val="307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536192"/>
            <a:ext cx="475488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1828800"/>
            <a:ext cx="25603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66160" y="1938528"/>
            <a:ext cx="50292" cy="2066543"/>
          </a:xfrm>
          <a:prstGeom prst="rect">
            <a:avLst/>
          </a:prstGeom>
          <a:solidFill>
            <a:srgbClr val="41C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39" y="1975104"/>
            <a:ext cx="2212848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0F1C32"/>
                </a:solidFill>
                <a:latin typeface="Aptos"/>
              </a:rPr>
              <a:t>CAPTURE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340864"/>
            <a:ext cx="2194560" cy="170078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66788E"/>
                </a:solidFill>
                <a:latin typeface="Aptos"/>
              </a:rPr>
              <a:t>Store temperature readings from a real or simulated device.</a:t>
            </a:r>
          </a:p>
        </p:txBody>
      </p:sp>
      <p:sp>
        <p:nvSpPr>
          <p:cNvPr id="17" name="Oval 16"/>
          <p:cNvSpPr/>
          <p:nvPr/>
        </p:nvSpPr>
        <p:spPr>
          <a:xfrm>
            <a:off x="3703320" y="1417320"/>
            <a:ext cx="475488" cy="475488"/>
          </a:xfrm>
          <a:prstGeom prst="ellipse">
            <a:avLst/>
          </a:prstGeom>
          <a:solidFill>
            <a:srgbClr val="41C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03320" y="1536192"/>
            <a:ext cx="475488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1828800"/>
            <a:ext cx="25603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46520" y="1938528"/>
            <a:ext cx="50292" cy="2066543"/>
          </a:xfrm>
          <a:prstGeom prst="rect">
            <a:avLst/>
          </a:prstGeom>
          <a:solidFill>
            <a:srgbClr val="F09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1975104"/>
            <a:ext cx="2212848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0F1C32"/>
                </a:solidFill>
                <a:latin typeface="Aptos"/>
              </a:rPr>
              <a:t>CALCULATE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340864"/>
            <a:ext cx="2194560" cy="170078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66788E"/>
                </a:solidFill>
                <a:latin typeface="Aptos"/>
              </a:rPr>
              <a:t>Merge overlapping intervals and calculate cumulative exposure.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0" y="1417320"/>
            <a:ext cx="475488" cy="475488"/>
          </a:xfrm>
          <a:prstGeom prst="ellipse">
            <a:avLst/>
          </a:prstGeom>
          <a:solidFill>
            <a:srgbClr val="F09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1536192"/>
            <a:ext cx="475488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26880" y="1828800"/>
            <a:ext cx="25603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326880" y="1938528"/>
            <a:ext cx="50292" cy="2066543"/>
          </a:xfrm>
          <a:prstGeom prst="rect">
            <a:avLst/>
          </a:prstGeom>
          <a:solidFill>
            <a:srgbClr val="22A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59" y="1975104"/>
            <a:ext cx="2212848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0F1C32"/>
                </a:solidFill>
                <a:latin typeface="Aptos"/>
              </a:rPr>
              <a:t>RESPOND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59" y="2340864"/>
            <a:ext cx="2194560" cy="170078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66788E"/>
                </a:solidFill>
                <a:latin typeface="Aptos"/>
              </a:rPr>
              <a:t>Publish a breach event to Kafka and persist a workflow update.</a:t>
            </a:r>
          </a:p>
        </p:txBody>
      </p:sp>
      <p:sp>
        <p:nvSpPr>
          <p:cNvPr id="29" name="Oval 28"/>
          <p:cNvSpPr/>
          <p:nvPr/>
        </p:nvSpPr>
        <p:spPr>
          <a:xfrm>
            <a:off x="9464040" y="1417320"/>
            <a:ext cx="475488" cy="475488"/>
          </a:xfrm>
          <a:prstGeom prst="ellipse">
            <a:avLst/>
          </a:prstGeom>
          <a:solidFill>
            <a:srgbClr val="22A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64040" y="1536192"/>
            <a:ext cx="475488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754880"/>
            <a:ext cx="1069848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000" b="1">
                <a:solidFill>
                  <a:srgbClr val="0F1C32"/>
                </a:solidFill>
                <a:latin typeface="Aptos"/>
              </a:rPr>
              <a:t>Outcome: a demonstrable path from a business rule to an asynchronous, persisted workflow 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109728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3071EB"/>
                </a:solidFill>
                <a:latin typeface="Aptos"/>
              </a:rPr>
              <a:t>03 /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21792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0F1C32"/>
                </a:solidFill>
                <a:latin typeface="Aptos"/>
              </a:rPr>
              <a:t>Architecture: services separated by responsibility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61872"/>
            <a:ext cx="685800" cy="50292"/>
          </a:xfrm>
          <a:prstGeom prst="rect">
            <a:avLst/>
          </a:prstGeom>
          <a:solidFill>
            <a:srgbClr val="307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82296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66788E"/>
                </a:solidFill>
                <a:latin typeface="Aptos"/>
              </a:rPr>
              <a:t>COLDBOX  •  COLD-CHAIN EXPOSURE ACCOUNTING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00" b="1">
                <a:solidFill>
                  <a:srgbClr val="66788E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508760"/>
            <a:ext cx="36118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51960" y="1618488"/>
            <a:ext cx="50292" cy="530352"/>
          </a:xfrm>
          <a:prstGeom prst="rect">
            <a:avLst/>
          </a:prstGeom>
          <a:solidFill>
            <a:srgbClr val="307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655063"/>
            <a:ext cx="3264408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0F1C32"/>
                </a:solidFill>
                <a:latin typeface="Aptos"/>
              </a:rPr>
              <a:t>API Gateway • :8080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020824"/>
            <a:ext cx="3246120" cy="16459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66788E"/>
                </a:solidFill>
                <a:latin typeface="Aptos"/>
              </a:rPr>
              <a:t>Central route + JWT 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743200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852928"/>
            <a:ext cx="50292" cy="923544"/>
          </a:xfrm>
          <a:prstGeom prst="rect">
            <a:avLst/>
          </a:prstGeom>
          <a:solidFill>
            <a:srgbClr val="22A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2990088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0F1C32"/>
                </a:solidFill>
                <a:latin typeface="Aptos"/>
              </a:rPr>
              <a:t>Kit Shipment • :8081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55264"/>
            <a:ext cx="2971800" cy="55778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66788E"/>
                </a:solidFill>
                <a:latin typeface="Aptos"/>
              </a:rPr>
              <a:t>Shipment API + Kafka consumer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2743200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2852928"/>
            <a:ext cx="50292" cy="923544"/>
          </a:xfrm>
          <a:prstGeom prst="rect">
            <a:avLst/>
          </a:prstGeom>
          <a:solidFill>
            <a:srgbClr val="41C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2889504"/>
            <a:ext cx="2990088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0F1C32"/>
                </a:solidFill>
                <a:latin typeface="Aptos"/>
              </a:rPr>
              <a:t>Telemetry • :8082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255264"/>
            <a:ext cx="2971800" cy="55778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66788E"/>
                </a:solidFill>
                <a:latin typeface="Aptos"/>
              </a:rPr>
              <a:t>Temperature reading 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2743200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79" y="2852928"/>
            <a:ext cx="50292" cy="923544"/>
          </a:xfrm>
          <a:prstGeom prst="rect">
            <a:avLst/>
          </a:prstGeom>
          <a:solidFill>
            <a:srgbClr val="F09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59" y="2889504"/>
            <a:ext cx="2990088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0F1C32"/>
                </a:solidFill>
                <a:latin typeface="Aptos"/>
              </a:rPr>
              <a:t>Exposure • :8083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9" y="3255264"/>
            <a:ext cx="2971800" cy="55778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66788E"/>
                </a:solidFill>
                <a:latin typeface="Aptos"/>
              </a:rPr>
              <a:t>Exposure calculation + Kafka producer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2359152" y="2258568"/>
            <a:ext cx="3694176" cy="484632"/>
          </a:xfrm>
          <a:prstGeom prst="line">
            <a:avLst/>
          </a:prstGeom>
          <a:ln w="19050">
            <a:solidFill>
              <a:srgbClr val="6678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053328" y="2258568"/>
            <a:ext cx="45720" cy="484632"/>
          </a:xfrm>
          <a:prstGeom prst="line">
            <a:avLst/>
          </a:prstGeom>
          <a:ln w="19050">
            <a:solidFill>
              <a:srgbClr val="6678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053328" y="2258568"/>
            <a:ext cx="3794760" cy="484632"/>
          </a:xfrm>
          <a:prstGeom prst="line">
            <a:avLst/>
          </a:prstGeom>
          <a:ln w="19050">
            <a:solidFill>
              <a:srgbClr val="6678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68680" y="4572000"/>
            <a:ext cx="2880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68680" y="4681728"/>
            <a:ext cx="50292" cy="740664"/>
          </a:xfrm>
          <a:prstGeom prst="rect">
            <a:avLst/>
          </a:prstGeom>
          <a:solidFill>
            <a:srgbClr val="307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4718304"/>
            <a:ext cx="2532888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0F1C32"/>
                </a:solidFill>
                <a:latin typeface="Aptos"/>
              </a:rPr>
              <a:t>shipment_db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084064"/>
            <a:ext cx="2514600" cy="3749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66788E"/>
                </a:solidFill>
                <a:latin typeface="Aptos"/>
              </a:rPr>
              <a:t>Shipments + workflow_updates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45152" y="4572000"/>
            <a:ext cx="2880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45152" y="4681728"/>
            <a:ext cx="50292" cy="740664"/>
          </a:xfrm>
          <a:prstGeom prst="rect">
            <a:avLst/>
          </a:prstGeom>
          <a:solidFill>
            <a:srgbClr val="41C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28032" y="4718304"/>
            <a:ext cx="2532888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0F1C32"/>
                </a:solidFill>
                <a:latin typeface="Aptos"/>
              </a:rPr>
              <a:t>telemetry_db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28032" y="5084064"/>
            <a:ext cx="2514600" cy="3749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66788E"/>
                </a:solidFill>
                <a:latin typeface="Aptos"/>
              </a:rPr>
              <a:t>Temperature readings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0" y="4572000"/>
            <a:ext cx="2880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412480" y="4681728"/>
            <a:ext cx="50292" cy="740664"/>
          </a:xfrm>
          <a:prstGeom prst="rect">
            <a:avLst/>
          </a:prstGeom>
          <a:solidFill>
            <a:srgbClr val="F09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95359" y="4718304"/>
            <a:ext cx="2532888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0F1C32"/>
                </a:solidFill>
                <a:latin typeface="Aptos"/>
              </a:rPr>
              <a:t>exposure_db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59" y="5084064"/>
            <a:ext cx="2514600" cy="3749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66788E"/>
                </a:solidFill>
                <a:latin typeface="Aptos"/>
              </a:rPr>
              <a:t>Exposure service persistence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359152" y="3886200"/>
            <a:ext cx="0" cy="685800"/>
          </a:xfrm>
          <a:prstGeom prst="line">
            <a:avLst/>
          </a:prstGeom>
          <a:ln>
            <a:solidFill>
              <a:srgbClr val="6678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099048" y="3886200"/>
            <a:ext cx="0" cy="685800"/>
          </a:xfrm>
          <a:prstGeom prst="line">
            <a:avLst/>
          </a:prstGeom>
          <a:ln>
            <a:solidFill>
              <a:srgbClr val="6678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848088" y="3886200"/>
            <a:ext cx="0" cy="685800"/>
          </a:xfrm>
          <a:prstGeom prst="line">
            <a:avLst/>
          </a:prstGeom>
          <a:ln>
            <a:solidFill>
              <a:srgbClr val="6678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657600" y="5833872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3071EB"/>
                </a:solidFill>
                <a:latin typeface="Aptos"/>
              </a:rPr>
              <a:t>Kafka topic: soa.s02.t03.events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109728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41CDDA"/>
                </a:solidFill>
                <a:latin typeface="Aptos"/>
              </a:rPr>
              <a:t>04 / EVENT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21792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Event-driven workflow: detect, publish, consume, persist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61872"/>
            <a:ext cx="685800" cy="50292"/>
          </a:xfrm>
          <a:prstGeom prst="rect">
            <a:avLst/>
          </a:prstGeom>
          <a:solidFill>
            <a:srgbClr val="41C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82296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A6B8CC"/>
                </a:solidFill>
                <a:latin typeface="Aptos"/>
              </a:rPr>
              <a:t>COLDBOX  •  COLD-CHAIN EXPOSURE ACCOUNTING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00" b="1">
                <a:solidFill>
                  <a:srgbClr val="A6B8CC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2331720" cy="1600200"/>
          </a:xfrm>
          <a:prstGeom prst="roundRect">
            <a:avLst/>
          </a:prstGeom>
          <a:solidFill>
            <a:srgbClr val="172A46"/>
          </a:solidFill>
          <a:ln>
            <a:solidFill>
              <a:srgbClr val="32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167128"/>
            <a:ext cx="50292" cy="1380744"/>
          </a:xfrm>
          <a:prstGeom prst="rect">
            <a:avLst/>
          </a:prstGeom>
          <a:solidFill>
            <a:srgbClr val="307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03704"/>
            <a:ext cx="1984248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Exposure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69464"/>
            <a:ext cx="1965960" cy="1014983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D1DEED"/>
                </a:solidFill>
                <a:latin typeface="Aptos"/>
              </a:rPr>
              <a:t>Calculate duration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560320"/>
            <a:ext cx="41148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400" b="1">
                <a:solidFill>
                  <a:srgbClr val="41CDDA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2057400"/>
            <a:ext cx="2331720" cy="1600200"/>
          </a:xfrm>
          <a:prstGeom prst="roundRect">
            <a:avLst/>
          </a:prstGeom>
          <a:solidFill>
            <a:srgbClr val="172A46"/>
          </a:solidFill>
          <a:ln>
            <a:solidFill>
              <a:srgbClr val="32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66160" y="2167128"/>
            <a:ext cx="50292" cy="1380744"/>
          </a:xfrm>
          <a:prstGeom prst="rect">
            <a:avLst/>
          </a:prstGeom>
          <a:solidFill>
            <a:srgbClr val="41C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39" y="2203704"/>
            <a:ext cx="1984248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Kafka topic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569464"/>
            <a:ext cx="1965960" cy="1014983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D1DEED"/>
                </a:solidFill>
                <a:latin typeface="Aptos"/>
              </a:rPr>
              <a:t>ExposureLimitExceeded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560320"/>
            <a:ext cx="41148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400" b="1">
                <a:solidFill>
                  <a:srgbClr val="41CDDA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2057400"/>
            <a:ext cx="2331720" cy="1600200"/>
          </a:xfrm>
          <a:prstGeom prst="roundRect">
            <a:avLst/>
          </a:prstGeom>
          <a:solidFill>
            <a:srgbClr val="172A46"/>
          </a:solidFill>
          <a:ln>
            <a:solidFill>
              <a:srgbClr val="32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46520" y="2167128"/>
            <a:ext cx="50292" cy="1380744"/>
          </a:xfrm>
          <a:prstGeom prst="rect">
            <a:avLst/>
          </a:prstGeom>
          <a:solidFill>
            <a:srgbClr val="F09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2203704"/>
            <a:ext cx="1984248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Shipment consumer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569464"/>
            <a:ext cx="1965960" cy="1014983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D1DEED"/>
                </a:solidFill>
                <a:latin typeface="Aptos"/>
              </a:rPr>
              <a:t>Process event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2560320"/>
            <a:ext cx="41148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400" b="1">
                <a:solidFill>
                  <a:srgbClr val="41CDDA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0" y="2057400"/>
            <a:ext cx="2331720" cy="1600200"/>
          </a:xfrm>
          <a:prstGeom prst="roundRect">
            <a:avLst/>
          </a:prstGeom>
          <a:solidFill>
            <a:srgbClr val="172A46"/>
          </a:solidFill>
          <a:ln>
            <a:solidFill>
              <a:srgbClr val="32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326880" y="2167128"/>
            <a:ext cx="50292" cy="1380744"/>
          </a:xfrm>
          <a:prstGeom prst="rect">
            <a:avLst/>
          </a:prstGeom>
          <a:solidFill>
            <a:srgbClr val="22A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59" y="2203704"/>
            <a:ext cx="1984248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PostgreSQL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59" y="2569464"/>
            <a:ext cx="1965960" cy="1014983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D1DEED"/>
                </a:solidFill>
                <a:latin typeface="Aptos"/>
              </a:rPr>
              <a:t>Store workflow update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389120"/>
            <a:ext cx="105156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Demo example: 2,400 seconds calculated vs. a 1,800-second limit → breach event.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029200"/>
            <a:ext cx="1033272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B4C7DC"/>
                </a:solidFill>
                <a:latin typeface="Aptos"/>
              </a:rPr>
              <a:t>Verification evidence: producer log, shipment consumer log, and a new row in workflow_updates.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109728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3071EB"/>
                </a:solidFill>
                <a:latin typeface="Aptos"/>
              </a:rPr>
              <a:t>05 /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21792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0F1C32"/>
                </a:solidFill>
                <a:latin typeface="Aptos"/>
              </a:rPr>
              <a:t>Interactive dashboard: operations, not just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61872"/>
            <a:ext cx="685800" cy="50292"/>
          </a:xfrm>
          <a:prstGeom prst="rect">
            <a:avLst/>
          </a:prstGeom>
          <a:solidFill>
            <a:srgbClr val="307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82296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66788E"/>
                </a:solidFill>
                <a:latin typeface="Aptos"/>
              </a:rPr>
              <a:t>COLDBOX  •  COLD-CHAIN EXPOSURE ACCOUNTING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00" b="1">
                <a:solidFill>
                  <a:srgbClr val="66788E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342900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709928"/>
            <a:ext cx="50292" cy="1353312"/>
          </a:xfrm>
          <a:prstGeom prst="rect">
            <a:avLst/>
          </a:prstGeom>
          <a:solidFill>
            <a:srgbClr val="307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46504"/>
            <a:ext cx="3081528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0F1C32"/>
                </a:solidFill>
                <a:latin typeface="Aptos"/>
              </a:rPr>
              <a:t>Dashboard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12264"/>
            <a:ext cx="3063240" cy="9875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66788E"/>
                </a:solidFill>
                <a:latin typeface="Aptos"/>
              </a:rPr>
              <a:t>Live shipment and telemetry counts; refresh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600200"/>
            <a:ext cx="342900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709928"/>
            <a:ext cx="50292" cy="1353312"/>
          </a:xfrm>
          <a:prstGeom prst="rect">
            <a:avLst/>
          </a:prstGeom>
          <a:solidFill>
            <a:srgbClr val="22A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746504"/>
            <a:ext cx="3081528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0F1C32"/>
                </a:solidFill>
                <a:latin typeface="Aptos"/>
              </a:rPr>
              <a:t>Kit shipments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112264"/>
            <a:ext cx="3063240" cy="9875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66788E"/>
                </a:solidFill>
                <a:latin typeface="Aptos"/>
              </a:rPr>
              <a:t>Create shipments and inspect saved limits/status.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600200"/>
            <a:ext cx="342900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75320" y="1709928"/>
            <a:ext cx="50292" cy="1353312"/>
          </a:xfrm>
          <a:prstGeom prst="rect">
            <a:avLst/>
          </a:prstGeom>
          <a:solidFill>
            <a:srgbClr val="41C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746504"/>
            <a:ext cx="3081528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0F1C32"/>
                </a:solidFill>
                <a:latin typeface="Aptos"/>
              </a:rPr>
              <a:t>Telemetry monitoring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112264"/>
            <a:ext cx="3063240" cy="9875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66788E"/>
                </a:solidFill>
                <a:latin typeface="Aptos"/>
              </a:rPr>
              <a:t>Submit mock readings and review sensor history.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566160"/>
            <a:ext cx="342900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675887"/>
            <a:ext cx="50292" cy="1353312"/>
          </a:xfrm>
          <a:prstGeom prst="rect">
            <a:avLst/>
          </a:prstGeom>
          <a:solidFill>
            <a:srgbClr val="F09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712463"/>
            <a:ext cx="3081528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0F1C32"/>
                </a:solidFill>
                <a:latin typeface="Aptos"/>
              </a:rPr>
              <a:t>Exposure calculator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078224"/>
            <a:ext cx="3063240" cy="9875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66788E"/>
                </a:solidFill>
                <a:latin typeface="Aptos"/>
              </a:rPr>
              <a:t>Send intervals and display limit-exceeded results.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3566160"/>
            <a:ext cx="342900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80560" y="3675887"/>
            <a:ext cx="50292" cy="1353312"/>
          </a:xfrm>
          <a:prstGeom prst="rect">
            <a:avLst/>
          </a:prstGeom>
          <a:solidFill>
            <a:srgbClr val="307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3712463"/>
            <a:ext cx="3081528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0F1C32"/>
                </a:solidFill>
                <a:latin typeface="Aptos"/>
              </a:rPr>
              <a:t>Events &amp; workflow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078224"/>
            <a:ext cx="3063240" cy="9875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66788E"/>
                </a:solidFill>
                <a:latin typeface="Aptos"/>
              </a:rPr>
              <a:t>Explain Kafka pipeline; verify persistence in logs/DB.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20" y="3566160"/>
            <a:ext cx="342900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75320" y="3675887"/>
            <a:ext cx="50292" cy="1353312"/>
          </a:xfrm>
          <a:prstGeom prst="rect">
            <a:avLst/>
          </a:prstGeom>
          <a:solidFill>
            <a:srgbClr val="DB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200" y="3712463"/>
            <a:ext cx="3081528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0F1C32"/>
                </a:solidFill>
                <a:latin typeface="Aptos"/>
              </a:rPr>
              <a:t>Authentication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4078224"/>
            <a:ext cx="3063240" cy="9875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66788E"/>
                </a:solidFill>
                <a:latin typeface="Aptos"/>
              </a:rPr>
              <a:t>Save a JWT and retry protected API calls.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715000"/>
            <a:ext cx="106070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66788E"/>
                </a:solidFill>
                <a:latin typeface="Aptos"/>
              </a:rPr>
              <a:t>Note: the workflow page is an architecture view; live history needs a dedicated GET endpoint.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109728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3071EB"/>
                </a:solidFill>
                <a:latin typeface="Aptos"/>
              </a:rPr>
              <a:t>06 / EXPOSURE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21792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0F1C32"/>
                </a:solidFill>
                <a:latin typeface="Aptos"/>
              </a:rPr>
              <a:t>Core rule: overlapping intervals are counted once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61872"/>
            <a:ext cx="685800" cy="50292"/>
          </a:xfrm>
          <a:prstGeom prst="rect">
            <a:avLst/>
          </a:prstGeom>
          <a:solidFill>
            <a:srgbClr val="307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82296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66788E"/>
                </a:solidFill>
                <a:latin typeface="Aptos"/>
              </a:rPr>
              <a:t>COLDBOX  •  COLD-CHAIN EXPOSURE ACCOUNTING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00" b="1">
                <a:solidFill>
                  <a:srgbClr val="66788E"/>
                </a:solidFill>
                <a:latin typeface="Aptos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4663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C32"/>
                </a:solidFill>
                <a:latin typeface="Aptos"/>
              </a:rPr>
              <a:t>Illustrative intervals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03120"/>
            <a:ext cx="2400300" cy="329184"/>
          </a:xfrm>
          <a:prstGeom prst="roundRect">
            <a:avLst/>
          </a:prstGeom>
          <a:solidFill>
            <a:srgbClr val="307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176272"/>
            <a:ext cx="2327148" cy="1463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A  10:00–10:20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14550" y="2761487"/>
            <a:ext cx="2400300" cy="329184"/>
          </a:xfrm>
          <a:prstGeom prst="roundRect">
            <a:avLst/>
          </a:prstGeom>
          <a:solidFill>
            <a:srgbClr val="F09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51126" y="2834639"/>
            <a:ext cx="2327148" cy="1463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B  10:10–10:30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14775" y="3419856"/>
            <a:ext cx="1200150" cy="329184"/>
          </a:xfrm>
          <a:prstGeom prst="roundRect">
            <a:avLst/>
          </a:prstGeom>
          <a:solidFill>
            <a:srgbClr val="41C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51351" y="3493008"/>
            <a:ext cx="1126998" cy="1463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  10:25–10:35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691640"/>
            <a:ext cx="4846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801368"/>
            <a:ext cx="50292" cy="1106424"/>
          </a:xfrm>
          <a:prstGeom prst="rect">
            <a:avLst/>
          </a:prstGeom>
          <a:solidFill>
            <a:srgbClr val="DB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837944"/>
            <a:ext cx="4498848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0F1C32"/>
                </a:solidFill>
                <a:latin typeface="Aptos"/>
              </a:rPr>
              <a:t>Incorrect: sum intervals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203704"/>
            <a:ext cx="4480559" cy="74066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66788E"/>
                </a:solidFill>
                <a:latin typeface="Aptos"/>
              </a:rPr>
              <a:t>20 + 20 + 10 = 50 minutes (overlaps double-counted)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337560"/>
            <a:ext cx="4846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3447288"/>
            <a:ext cx="50292" cy="1106424"/>
          </a:xfrm>
          <a:prstGeom prst="rect">
            <a:avLst/>
          </a:prstGeom>
          <a:solidFill>
            <a:srgbClr val="22A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483864"/>
            <a:ext cx="4498848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0F1C32"/>
                </a:solidFill>
                <a:latin typeface="Aptos"/>
              </a:rPr>
              <a:t>Correct: merge ranges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849624"/>
            <a:ext cx="4480559" cy="74066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66788E"/>
                </a:solidFill>
                <a:latin typeface="Aptos"/>
              </a:rPr>
              <a:t>Union = 35 minutes = 2,100 seconds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120640"/>
            <a:ext cx="45720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0F1C32"/>
                </a:solidFill>
                <a:latin typeface="Aptos"/>
              </a:rPr>
              <a:t>Accurate accounting avoids inflated exposure totals.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109728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3071EB"/>
                </a:solidFill>
                <a:latin typeface="Aptos"/>
              </a:rPr>
              <a:t>07 /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21792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0F1C32"/>
                </a:solidFill>
                <a:latin typeface="Aptos"/>
              </a:rPr>
              <a:t>Technology stack and service boundaries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61872"/>
            <a:ext cx="685800" cy="50292"/>
          </a:xfrm>
          <a:prstGeom prst="rect">
            <a:avLst/>
          </a:prstGeom>
          <a:solidFill>
            <a:srgbClr val="307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82296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66788E"/>
                </a:solidFill>
                <a:latin typeface="Aptos"/>
              </a:rPr>
              <a:t>COLDBOX  •  COLD-CHAIN EXPOSURE ACCOUNTING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00" b="1">
                <a:solidFill>
                  <a:srgbClr val="66788E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36192"/>
            <a:ext cx="1874519" cy="493776"/>
          </a:xfrm>
          <a:prstGeom prst="roundRect">
            <a:avLst/>
          </a:prstGeom>
          <a:solidFill>
            <a:srgbClr val="307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64207"/>
            <a:ext cx="169164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572768"/>
            <a:ext cx="338328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0F1C32"/>
                </a:solidFill>
                <a:latin typeface="Aptos"/>
              </a:rPr>
              <a:t>HTML • CSS • JavaScript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72768"/>
            <a:ext cx="484632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66788E"/>
                </a:solidFill>
                <a:latin typeface="Aptos"/>
              </a:rPr>
              <a:t>Interactive browser 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249424"/>
            <a:ext cx="1874519" cy="493776"/>
          </a:xfrm>
          <a:prstGeom prst="roundRect">
            <a:avLst/>
          </a:prstGeom>
          <a:solidFill>
            <a:srgbClr val="41C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377440"/>
            <a:ext cx="169164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API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286000"/>
            <a:ext cx="338328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0F1C32"/>
                </a:solidFill>
                <a:latin typeface="Aptos"/>
              </a:rPr>
              <a:t>Spring Cloud Gateway • JWT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86000"/>
            <a:ext cx="484632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66788E"/>
                </a:solidFill>
                <a:latin typeface="Aptos"/>
              </a:rPr>
              <a:t>Central entry for protected requests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962656"/>
            <a:ext cx="1874519" cy="493776"/>
          </a:xfrm>
          <a:prstGeom prst="roundRect">
            <a:avLst/>
          </a:prstGeom>
          <a:solidFill>
            <a:srgbClr val="22A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090672"/>
            <a:ext cx="169164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Domain 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999232"/>
            <a:ext cx="338328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0F1C32"/>
                </a:solidFill>
                <a:latin typeface="Aptos"/>
              </a:rPr>
              <a:t>Spring Boot • Java 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999232"/>
            <a:ext cx="484632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66788E"/>
                </a:solidFill>
                <a:latin typeface="Aptos"/>
              </a:rPr>
              <a:t>Shipment, telemetry and exposure logic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675887"/>
            <a:ext cx="1874519" cy="493776"/>
          </a:xfrm>
          <a:prstGeom prst="roundRect">
            <a:avLst/>
          </a:prstGeom>
          <a:solidFill>
            <a:srgbClr val="F09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803903"/>
            <a:ext cx="169164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Messaging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3712463"/>
            <a:ext cx="338328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0F1C32"/>
                </a:solidFill>
                <a:latin typeface="Aptos"/>
              </a:rPr>
              <a:t>Apache Kafka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712463"/>
            <a:ext cx="484632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66788E"/>
                </a:solidFill>
                <a:latin typeface="Aptos"/>
              </a:rPr>
              <a:t>Asynchronous breach-event transport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389120"/>
            <a:ext cx="1874519" cy="493776"/>
          </a:xfrm>
          <a:prstGeom prst="roundRect">
            <a:avLst/>
          </a:prstGeom>
          <a:solidFill>
            <a:srgbClr val="307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517136"/>
            <a:ext cx="169164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Persistence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425696"/>
            <a:ext cx="338328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0F1C32"/>
                </a:solidFill>
                <a:latin typeface="Aptos"/>
              </a:rPr>
              <a:t>PostgreSQL • Spring Data JPA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425696"/>
            <a:ext cx="484632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66788E"/>
                </a:solidFill>
                <a:latin typeface="Aptos"/>
              </a:rPr>
              <a:t>Separate domain stores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102352"/>
            <a:ext cx="1874519" cy="493776"/>
          </a:xfrm>
          <a:prstGeom prst="roundRect">
            <a:avLst/>
          </a:prstGeom>
          <a:solidFill>
            <a:srgbClr val="DB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230368"/>
            <a:ext cx="169164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Testing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138928"/>
            <a:ext cx="338328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0F1C32"/>
                </a:solidFill>
                <a:latin typeface="Aptos"/>
              </a:rPr>
              <a:t>JUnit 5 • Spring Boot Test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138928"/>
            <a:ext cx="484632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66788E"/>
                </a:solidFill>
                <a:latin typeface="Aptos"/>
              </a:rPr>
              <a:t>Unit, persistence, integration and contract checks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989320"/>
            <a:ext cx="10515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3071EB"/>
                </a:solidFill>
                <a:latin typeface="Aptos"/>
              </a:rPr>
              <a:t>Gateway :8080 • Shipment :8081 • Telemetry :8082 • Exposure :8083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109728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3071EB"/>
                </a:solidFill>
                <a:latin typeface="Aptos"/>
              </a:rPr>
              <a:t>08 /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21792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0F1C32"/>
                </a:solidFill>
                <a:latin typeface="Aptos"/>
              </a:rPr>
              <a:t>Security: implementation and verification 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61872"/>
            <a:ext cx="685800" cy="50292"/>
          </a:xfrm>
          <a:prstGeom prst="rect">
            <a:avLst/>
          </a:prstGeom>
          <a:solidFill>
            <a:srgbClr val="307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82296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66788E"/>
                </a:solidFill>
                <a:latin typeface="Aptos"/>
              </a:rPr>
              <a:t>COLDBOX  •  COLD-CHAIN EXPOSURE ACCOUNTING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00" b="1">
                <a:solidFill>
                  <a:srgbClr val="66788E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5204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55648"/>
            <a:ext cx="50292" cy="1700784"/>
          </a:xfrm>
          <a:prstGeom prst="rect">
            <a:avLst/>
          </a:prstGeom>
          <a:solidFill>
            <a:srgbClr val="22A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92224"/>
            <a:ext cx="3172968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0F1C32"/>
                </a:solidFill>
                <a:latin typeface="Aptos"/>
              </a:rPr>
              <a:t>JWT at the Gateway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57984"/>
            <a:ext cx="3154680" cy="133502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66788E"/>
                </a:solidFill>
                <a:latin typeface="Aptos"/>
              </a:rPr>
              <a:t>RS256 token; issuer and expiry claims; protected routes.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45920"/>
            <a:ext cx="35204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755648"/>
            <a:ext cx="50292" cy="1700784"/>
          </a:xfrm>
          <a:prstGeom prst="rect">
            <a:avLst/>
          </a:prstGeom>
          <a:solidFill>
            <a:srgbClr val="F09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792224"/>
            <a:ext cx="3172968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0F1C32"/>
                </a:solidFill>
                <a:latin typeface="Aptos"/>
              </a:rPr>
              <a:t>Roles and access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157984"/>
            <a:ext cx="3154680" cy="133502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66788E"/>
                </a:solidFill>
                <a:latin typeface="Aptos"/>
              </a:rPr>
              <a:t>Demo roles: courier and labReceiver. Verify mapping and record-level authorization.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1645920"/>
            <a:ext cx="35204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79" y="1755648"/>
            <a:ext cx="50292" cy="1700784"/>
          </a:xfrm>
          <a:prstGeom prst="rect">
            <a:avLst/>
          </a:prstGeom>
          <a:solidFill>
            <a:srgbClr val="DB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59" y="1792224"/>
            <a:ext cx="3172968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0F1C32"/>
                </a:solidFill>
                <a:latin typeface="Aptos"/>
              </a:rPr>
              <a:t>Transport and audit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59" y="2157984"/>
            <a:ext cx="3154680" cy="133502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66788E"/>
                </a:solidFill>
                <a:latin typeface="Aptos"/>
              </a:rPr>
              <a:t>CORS, TLS demo and redacted logs are checklist items.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69080"/>
            <a:ext cx="1042416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000" b="1">
                <a:solidFill>
                  <a:srgbClr val="0F1C32"/>
                </a:solidFill>
                <a:latin typeface="Aptos"/>
              </a:rPr>
              <a:t>Do not claim a security control is complete until a negative test proves 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4709160"/>
            <a:ext cx="10332720" cy="11887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66788E"/>
                </a:solidFill>
                <a:latin typeface="Aptos"/>
              </a:defRPr>
            </a:pPr>
            <a:r>
              <a:t>•  Test valid, expired/invalid and missing tokens.</a:t>
            </a:r>
          </a:p>
          <a:p>
            <a:pPr>
              <a:spcAft>
                <a:spcPts val="700"/>
              </a:spcAft>
              <a:defRPr sz="1300">
                <a:solidFill>
                  <a:srgbClr val="66788E"/>
                </a:solidFill>
                <a:latin typeface="Aptos"/>
              </a:defRPr>
            </a:pPr>
            <a:r>
              <a:t>•  Test courier vs. labReceiver permissions and unauthorized record access.</a:t>
            </a:r>
          </a:p>
          <a:p>
            <a:pPr>
              <a:spcAft>
                <a:spcPts val="700"/>
              </a:spcAft>
              <a:defRPr sz="1300">
                <a:solidFill>
                  <a:srgbClr val="66788E"/>
                </a:solidFill>
                <a:latin typeface="Aptos"/>
              </a:defRPr>
            </a:pPr>
            <a:r>
              <a:t>•  Confirm tokens and secrets never appear in logs.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109728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3071EB"/>
                </a:solidFill>
                <a:latin typeface="Aptos"/>
              </a:rPr>
              <a:t>09 /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21792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0F1C32"/>
                </a:solidFill>
                <a:latin typeface="Aptos"/>
              </a:rPr>
              <a:t>Demo evidence collected so far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61872"/>
            <a:ext cx="685800" cy="50292"/>
          </a:xfrm>
          <a:prstGeom prst="rect">
            <a:avLst/>
          </a:prstGeom>
          <a:solidFill>
            <a:srgbClr val="307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82296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66788E"/>
                </a:solidFill>
                <a:latin typeface="Aptos"/>
              </a:rPr>
              <a:t>COLDBOX  •  COLD-CHAIN EXPOSURE ACCOUNTING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00" b="1">
                <a:solidFill>
                  <a:srgbClr val="66788E"/>
                </a:solidFill>
                <a:latin typeface="Aptos"/>
              </a:rPr>
              <a:t>10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81912"/>
            <a:ext cx="310896" cy="310896"/>
          </a:xfrm>
          <a:prstGeom prst="ellipse">
            <a:avLst/>
          </a:prstGeom>
          <a:solidFill>
            <a:srgbClr val="22A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554480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0F1C32"/>
                </a:solidFill>
                <a:latin typeface="Aptos"/>
              </a:rPr>
              <a:t>Exposure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554480"/>
            <a:ext cx="7498079" cy="43891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66788E"/>
                </a:solidFill>
                <a:latin typeface="Aptos"/>
              </a:rPr>
              <a:t>2,400 sec calculated; limitExceeded = true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377439"/>
            <a:ext cx="310896" cy="310896"/>
          </a:xfrm>
          <a:prstGeom prst="ellipse">
            <a:avLst/>
          </a:prstGeom>
          <a:solidFill>
            <a:srgbClr val="41C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350008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0F1C32"/>
                </a:solidFill>
                <a:latin typeface="Aptos"/>
              </a:rPr>
              <a:t>Kafka event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350008"/>
            <a:ext cx="7498079" cy="43891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66788E"/>
                </a:solidFill>
                <a:latin typeface="Aptos"/>
              </a:rPr>
              <a:t>ExposureLimitExceeded event published to topic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3172968"/>
            <a:ext cx="310896" cy="310896"/>
          </a:xfrm>
          <a:prstGeom prst="ellipse">
            <a:avLst/>
          </a:prstGeom>
          <a:solidFill>
            <a:srgbClr val="307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3145536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0F1C32"/>
                </a:solidFill>
                <a:latin typeface="Aptos"/>
              </a:rPr>
              <a:t>Consumer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145536"/>
            <a:ext cx="7498079" cy="43891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66788E"/>
                </a:solidFill>
                <a:latin typeface="Aptos"/>
              </a:rPr>
              <a:t>Shipment service processed event for shipment 1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968496"/>
            <a:ext cx="310896" cy="310896"/>
          </a:xfrm>
          <a:prstGeom prst="ellipse">
            <a:avLst/>
          </a:prstGeom>
          <a:solidFill>
            <a:srgbClr val="F09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941063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0F1C32"/>
                </a:solidFill>
                <a:latin typeface="Aptos"/>
              </a:rPr>
              <a:t>Persistence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941063"/>
            <a:ext cx="7498079" cy="43891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66788E"/>
                </a:solidFill>
                <a:latin typeface="Aptos"/>
              </a:rPr>
              <a:t>workflow_updates rows visible in PostgreSQL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4764024"/>
            <a:ext cx="310896" cy="310896"/>
          </a:xfrm>
          <a:prstGeom prst="ellipse">
            <a:avLst/>
          </a:prstGeom>
          <a:solidFill>
            <a:srgbClr val="22A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4736592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0F1C32"/>
                </a:solidFill>
                <a:latin typeface="Aptos"/>
              </a:rPr>
              <a:t>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736592"/>
            <a:ext cx="7498079" cy="43891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66788E"/>
                </a:solidFill>
                <a:latin typeface="Aptos"/>
              </a:rPr>
              <a:t>Shipment and telemetry tables loaded; forms submitted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715000"/>
            <a:ext cx="105156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DB4B55"/>
                </a:solidFill>
                <a:latin typeface="Aptos"/>
              </a:rPr>
              <a:t>Still to verify: automated tests, complete authorization, Eureka, TLS and audit redaction.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109728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3071EB"/>
                </a:solidFill>
                <a:latin typeface="Aptos"/>
              </a:rPr>
              <a:t>10 /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21792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0F1C32"/>
                </a:solidFill>
                <a:latin typeface="Aptos"/>
              </a:rPr>
              <a:t>Why ColdBox is useful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61872"/>
            <a:ext cx="685800" cy="50292"/>
          </a:xfrm>
          <a:prstGeom prst="rect">
            <a:avLst/>
          </a:prstGeom>
          <a:solidFill>
            <a:srgbClr val="307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82296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66788E"/>
                </a:solidFill>
                <a:latin typeface="Aptos"/>
              </a:rPr>
              <a:t>COLDBOX  •  COLD-CHAIN EXPOSURE ACCOUNTING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00" b="1">
                <a:solidFill>
                  <a:srgbClr val="66788E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4747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01368"/>
            <a:ext cx="50292" cy="1472184"/>
          </a:xfrm>
          <a:prstGeom prst="rect">
            <a:avLst/>
          </a:prstGeom>
          <a:solidFill>
            <a:srgbClr val="307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37944"/>
            <a:ext cx="3127248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0F1C32"/>
                </a:solidFill>
                <a:latin typeface="Aptos"/>
              </a:rPr>
              <a:t>Accurate accounting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03704"/>
            <a:ext cx="3108960" cy="110642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66788E"/>
                </a:solidFill>
                <a:latin typeface="Aptos"/>
              </a:rPr>
              <a:t>Merges overlapping intervals to avoid double-counting.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91640"/>
            <a:ext cx="34747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801368"/>
            <a:ext cx="50292" cy="1472184"/>
          </a:xfrm>
          <a:prstGeom prst="rect">
            <a:avLst/>
          </a:prstGeom>
          <a:solidFill>
            <a:srgbClr val="41C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837944"/>
            <a:ext cx="3127248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0F1C32"/>
                </a:solidFill>
                <a:latin typeface="Aptos"/>
              </a:rPr>
              <a:t>Loosely coupled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203704"/>
            <a:ext cx="3108960" cy="110642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66788E"/>
                </a:solidFill>
                <a:latin typeface="Aptos"/>
              </a:rPr>
              <a:t>Kafka separates breach detection from workflow processing.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1691640"/>
            <a:ext cx="34747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79" y="1801368"/>
            <a:ext cx="50292" cy="1472184"/>
          </a:xfrm>
          <a:prstGeom prst="rect">
            <a:avLst/>
          </a:prstGeom>
          <a:solidFill>
            <a:srgbClr val="22A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59" y="1837944"/>
            <a:ext cx="3127248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0F1C32"/>
                </a:solidFill>
                <a:latin typeface="Aptos"/>
              </a:rPr>
              <a:t>Traceable 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59" y="2203704"/>
            <a:ext cx="3108960" cy="110642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66788E"/>
                </a:solidFill>
                <a:latin typeface="Aptos"/>
              </a:rPr>
              <a:t>Persistent shipment, telemetry and workflow records support investigation.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69080"/>
            <a:ext cx="1033272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C32"/>
                </a:solidFill>
                <a:latin typeface="Aptos"/>
              </a:rPr>
              <a:t>NEXT STEPS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572000"/>
            <a:ext cx="10241280" cy="12344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66788E"/>
                </a:solidFill>
                <a:latin typeface="Aptos"/>
              </a:defRPr>
            </a:pPr>
            <a:r>
              <a:t>•  Add a live workflow-history endpoint and event status view.</a:t>
            </a:r>
          </a:p>
          <a:p>
            <a:pPr>
              <a:spcAft>
                <a:spcPts val="700"/>
              </a:spcAft>
              <a:defRPr sz="1300">
                <a:solidFill>
                  <a:srgbClr val="66788E"/>
                </a:solidFill>
                <a:latin typeface="Aptos"/>
              </a:defRPr>
            </a:pPr>
            <a:r>
              <a:t>•  Add multi-interval entry and shipment-aware exposure thresholds.</a:t>
            </a:r>
          </a:p>
          <a:p>
            <a:pPr>
              <a:spcAft>
                <a:spcPts val="700"/>
              </a:spcAft>
              <a:defRPr sz="1300">
                <a:solidFill>
                  <a:srgbClr val="66788E"/>
                </a:solidFill>
                <a:latin typeface="Aptos"/>
              </a:defRPr>
            </a:pPr>
            <a:r>
              <a:t>•  Complete role-based access, TLS, service discovery and automated integration tests.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41CDDA"/>
                </a:solidFill>
                <a:latin typeface="Aptos"/>
              </a:rPr>
              <a:t>COLDBOX / 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8046720" cy="10972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From temperature data
to an accountable response.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429000"/>
            <a:ext cx="694944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BACDE2"/>
                </a:solidFill>
                <a:latin typeface="Aptos"/>
              </a:rPr>
              <a:t>A microservices-based cold-chain workflow combining exposure rules, event-driven processing and persistent evidence.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4892040"/>
            <a:ext cx="1645920" cy="731520"/>
          </a:xfrm>
          <a:prstGeom prst="roundRect">
            <a:avLst/>
          </a:prstGeom>
          <a:solidFill>
            <a:srgbClr val="172A46"/>
          </a:solidFill>
          <a:ln>
            <a:solidFill>
              <a:srgbClr val="307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7" y="4983480"/>
            <a:ext cx="4572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3071EB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7" y="521208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Track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4892040"/>
            <a:ext cx="1645920" cy="731520"/>
          </a:xfrm>
          <a:prstGeom prst="roundRect">
            <a:avLst/>
          </a:prstGeom>
          <a:solidFill>
            <a:srgbClr val="172A46"/>
          </a:solidFill>
          <a:ln>
            <a:solidFill>
              <a:srgbClr val="41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98648" y="4983480"/>
            <a:ext cx="4572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41CDDA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98648" y="521208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Calculate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4892040"/>
            <a:ext cx="1645920" cy="731520"/>
          </a:xfrm>
          <a:prstGeom prst="roundRect">
            <a:avLst/>
          </a:prstGeom>
          <a:solidFill>
            <a:srgbClr val="172A46"/>
          </a:solidFill>
          <a:ln>
            <a:solidFill>
              <a:srgbClr val="22A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18888" y="4983480"/>
            <a:ext cx="4572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22A06B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8888" y="521208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Respond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1828800"/>
            <a:ext cx="2743200" cy="21031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9000" b="1">
                <a:solidFill>
                  <a:srgbClr val="41CDDA"/>
                </a:solidFill>
                <a:latin typeface="Aptos"/>
              </a:rPr>
              <a:t>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6080760"/>
            <a:ext cx="54864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EB5CF"/>
                </a:solidFill>
                <a:latin typeface="Aptos"/>
              </a:rPr>
              <a:t>Questions &amp; feedback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9672"/>
            <a:ext cx="82296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A6B8CC"/>
                </a:solidFill>
                <a:latin typeface="Aptos"/>
              </a:rPr>
              <a:t>COLDBOX  •  COLD-CHAIN EXPOSURE ACCOUNTING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00" b="1">
                <a:solidFill>
                  <a:srgbClr val="A6B8CC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ColdBox — Cold-chain Exposure Accounting System</dc:title>
  <dc:subject>Hackathon project presentation</dc:subject>
  <dc:creator>ColdBox Project Team</dc:creator>
  <cp:keywords>Cold chain, SOA, Kafka, JWT, Spring Boot, exposure accounting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